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183452"/>
          </a:solidFill>
          <a:ln>
            <a:solidFill>
              <a:srgbClr val="18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914400"/>
            <a:ext cx="164592" cy="164592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0" y="918971"/>
            <a:ext cx="1645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9692640" y="1554480"/>
            <a:ext cx="219456" cy="219456"/>
          </a:xfrm>
          <a:prstGeom prst="ellipse">
            <a:avLst/>
          </a:prstGeom>
          <a:solidFill>
            <a:srgbClr val="DA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1559051"/>
            <a:ext cx="219456" cy="2103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7" name="Oval 6"/>
          <p:cNvSpPr/>
          <p:nvPr/>
        </p:nvSpPr>
        <p:spPr>
          <a:xfrm>
            <a:off x="10881360" y="841248"/>
            <a:ext cx="146304" cy="146304"/>
          </a:xfrm>
          <a:prstGeom prst="ellipse">
            <a:avLst/>
          </a:prstGeom>
          <a:solidFill>
            <a:srgbClr val="2D6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845820"/>
            <a:ext cx="14630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9" name="Oval 8"/>
          <p:cNvSpPr/>
          <p:nvPr/>
        </p:nvSpPr>
        <p:spPr>
          <a:xfrm>
            <a:off x="8778240" y="2834640"/>
            <a:ext cx="201168" cy="201168"/>
          </a:xfrm>
          <a:prstGeom prst="ellipse">
            <a:avLst/>
          </a:prstGeom>
          <a:solidFill>
            <a:srgbClr val="2D6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2839212"/>
            <a:ext cx="201168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1" name="Oval 10"/>
          <p:cNvSpPr/>
          <p:nvPr/>
        </p:nvSpPr>
        <p:spPr>
          <a:xfrm>
            <a:off x="10195560" y="3474720"/>
            <a:ext cx="182880" cy="182880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95560" y="3479291"/>
            <a:ext cx="1828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3" name="Oval 12"/>
          <p:cNvSpPr/>
          <p:nvPr/>
        </p:nvSpPr>
        <p:spPr>
          <a:xfrm>
            <a:off x="11155680" y="5029200"/>
            <a:ext cx="201168" cy="201168"/>
          </a:xfrm>
          <a:prstGeom prst="ellipse">
            <a:avLst/>
          </a:prstGeom>
          <a:solidFill>
            <a:srgbClr val="DA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0" y="5033772"/>
            <a:ext cx="201168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5" name="Oval 14"/>
          <p:cNvSpPr/>
          <p:nvPr/>
        </p:nvSpPr>
        <p:spPr>
          <a:xfrm>
            <a:off x="8549640" y="5349240"/>
            <a:ext cx="128016" cy="128016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5353812"/>
            <a:ext cx="128016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FFFFFF"/>
                </a:solidFill>
                <a:latin typeface="Aptos"/>
              </a:defRPr>
            </a:pPr>
          </a:p>
        </p:txBody>
      </p:sp>
      <p:cxnSp>
        <p:nvCxnSpPr>
          <p:cNvPr id="17" name="Connector 16"/>
          <p:cNvCxnSpPr/>
          <p:nvPr/>
        </p:nvCxnSpPr>
        <p:spPr>
          <a:xfrm>
            <a:off x="8485632" y="1078992"/>
            <a:ext cx="1298448" cy="585216"/>
          </a:xfrm>
          <a:prstGeom prst="line">
            <a:avLst/>
          </a:prstGeom>
          <a:ln w="20320">
            <a:solidFill>
              <a:srgbClr val="5B81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893808" y="950976"/>
            <a:ext cx="1060704" cy="786384"/>
          </a:xfrm>
          <a:prstGeom prst="line">
            <a:avLst/>
          </a:prstGeom>
          <a:ln w="20320">
            <a:solidFill>
              <a:srgbClr val="5B81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412480" y="1097280"/>
            <a:ext cx="475488" cy="1828800"/>
          </a:xfrm>
          <a:prstGeom prst="line">
            <a:avLst/>
          </a:prstGeom>
          <a:ln w="20320">
            <a:solidFill>
              <a:srgbClr val="5B81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942832" y="2926080"/>
            <a:ext cx="1335024" cy="640080"/>
          </a:xfrm>
          <a:prstGeom prst="line">
            <a:avLst/>
          </a:prstGeom>
          <a:ln w="20320">
            <a:solidFill>
              <a:srgbClr val="5B81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378440" y="3611880"/>
            <a:ext cx="850392" cy="1527048"/>
          </a:xfrm>
          <a:prstGeom prst="line">
            <a:avLst/>
          </a:prstGeom>
          <a:ln w="20320">
            <a:solidFill>
              <a:srgbClr val="5B81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613648" y="2926080"/>
            <a:ext cx="301752" cy="2487168"/>
          </a:xfrm>
          <a:prstGeom prst="line">
            <a:avLst/>
          </a:prstGeom>
          <a:ln w="20320">
            <a:solidFill>
              <a:srgbClr val="5B81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822960"/>
            <a:ext cx="65836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1C8585"/>
                </a:solidFill>
                <a:latin typeface="Aptos"/>
              </a:defRPr>
            </a:pPr>
            <a:r>
              <a:t>RESEARCH PRESENTATION  |  25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1417320"/>
            <a:ext cx="6675120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3500" b="1">
                <a:solidFill>
                  <a:srgbClr val="183452"/>
                </a:solidFill>
                <a:latin typeface="Aptos"/>
              </a:defRPr>
            </a:pPr>
            <a:r>
              <a:t>Finding ambiguity</a:t>
            </a:r>
          </a:p>
          <a:p>
            <a:pPr algn="l">
              <a:spcAft>
                <a:spcPts val="500"/>
              </a:spcAft>
              <a:defRPr sz="3500" b="1">
                <a:solidFill>
                  <a:srgbClr val="183452"/>
                </a:solidFill>
                <a:latin typeface="Aptos"/>
              </a:defRPr>
            </a:pPr>
            <a:r>
              <a:t>before publication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200400"/>
            <a:ext cx="640080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200" b="0">
                <a:solidFill>
                  <a:srgbClr val="26313B"/>
                </a:solidFill>
                <a:latin typeface="Aptos"/>
              </a:defRPr>
            </a:pPr>
            <a:r>
              <a:t>Leakage-controlled, model-assisted prioritization of</a:t>
            </a:r>
          </a:p>
          <a:p>
            <a:pPr algn="l">
              <a:spcAft>
                <a:spcPts val="500"/>
              </a:spcAft>
              <a:defRPr sz="2200" b="0">
                <a:solidFill>
                  <a:srgbClr val="26313B"/>
                </a:solidFill>
                <a:latin typeface="Aptos"/>
              </a:defRPr>
            </a:pPr>
            <a:r>
              <a:t>IETF Internet-Draft clauses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800600"/>
            <a:ext cx="6537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183452"/>
                </a:solidFill>
                <a:latin typeface="Aptos"/>
              </a:defRPr>
            </a:pPr>
            <a:r>
              <a:t>Mostafa Elofy  ·  Mohamed Ghanem  ·  Mohamed Abdelkhalek  ·  Osama Elkhuribi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303520"/>
            <a:ext cx="6126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5B6974"/>
                </a:solidFill>
                <a:latin typeface="Aptos"/>
              </a:defRPr>
            </a:pPr>
            <a:r>
              <a:t>School of Computing, Queen's University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190488"/>
            <a:ext cx="6126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A6413E"/>
                </a:solidFill>
                <a:latin typeface="Aptos"/>
              </a:defRPr>
            </a:pPr>
            <a:r>
              <a:t>Research-stage evidence — not a validated production detector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01  | 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83452"/>
                </a:solidFill>
                <a:latin typeface="Aptos"/>
              </a:defRPr>
            </a:pPr>
            <a:r>
              <a:t>One sentence can lead to different implementations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70432"/>
            <a:ext cx="10515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26313B"/>
                </a:solidFill>
                <a:latin typeface="Aptos"/>
              </a:defRPr>
            </a:pPr>
            <a:r>
              <a:t>Normative keywords are precise; the surrounding prose can still leave room for interpretation.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965960"/>
            <a:ext cx="5486400" cy="960120"/>
          </a:xfrm>
          <a:prstGeom prst="roundRect">
            <a:avLst/>
          </a:prstGeom>
          <a:solidFill>
            <a:srgbClr val="E7F0F7"/>
          </a:solidFill>
          <a:ln w="21590">
            <a:solidFill>
              <a:srgbClr val="2D6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139696"/>
            <a:ext cx="502920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183452"/>
                </a:solidFill>
                <a:latin typeface="Aptos"/>
              </a:defRPr>
            </a:pPr>
            <a:r>
              <a:t>“A receiver SHOULD retry when appropriate.”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2926080"/>
            <a:ext cx="0" cy="320040"/>
          </a:xfrm>
          <a:prstGeom prst="line">
            <a:avLst/>
          </a:prstGeom>
          <a:ln w="1905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514600" y="3246120"/>
            <a:ext cx="7132320" cy="0"/>
          </a:xfrm>
          <a:prstGeom prst="line">
            <a:avLst/>
          </a:prstGeom>
          <a:ln w="1905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514600" y="3246120"/>
            <a:ext cx="0" cy="301752"/>
          </a:xfrm>
          <a:prstGeom prst="line">
            <a:avLst/>
          </a:prstGeom>
          <a:ln w="1651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69848" y="3547872"/>
            <a:ext cx="2889504" cy="1335024"/>
          </a:xfrm>
          <a:prstGeom prst="roundRect">
            <a:avLst/>
          </a:prstGeom>
          <a:solidFill>
            <a:srgbClr val="E7F5F3"/>
          </a:solidFill>
          <a:ln w="13970">
            <a:solidFill>
              <a:srgbClr val="1C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730752"/>
            <a:ext cx="252374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83452"/>
                </a:solidFill>
                <a:latin typeface="Aptos"/>
              </a:defRPr>
            </a:pPr>
            <a:r>
              <a:t>Implementation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4160520"/>
            <a:ext cx="2505456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Retry immediately;</a:t>
            </a:r>
          </a:p>
          <a:p>
            <a:pPr algn="ctr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stop after one failure.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3246120"/>
            <a:ext cx="0" cy="301752"/>
          </a:xfrm>
          <a:prstGeom prst="line">
            <a:avLst/>
          </a:prstGeom>
          <a:ln w="1651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636008" y="3547872"/>
            <a:ext cx="2889504" cy="1335024"/>
          </a:xfrm>
          <a:prstGeom prst="roundRect">
            <a:avLst/>
          </a:prstGeom>
          <a:solidFill>
            <a:srgbClr val="FBF2E3"/>
          </a:solidFill>
          <a:ln w="13970">
            <a:solidFill>
              <a:srgbClr val="DA8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8888" y="3730752"/>
            <a:ext cx="252374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83452"/>
                </a:solidFill>
                <a:latin typeface="Aptos"/>
              </a:defRPr>
            </a:pPr>
            <a:r>
              <a:t>Implementation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4160520"/>
            <a:ext cx="2505456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Retry with backoff;</a:t>
            </a:r>
          </a:p>
          <a:p>
            <a:pPr algn="ctr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continue until a limit.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46920" y="3246120"/>
            <a:ext cx="0" cy="301752"/>
          </a:xfrm>
          <a:prstGeom prst="line">
            <a:avLst/>
          </a:prstGeom>
          <a:ln w="1651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02168" y="3547872"/>
            <a:ext cx="2889504" cy="1335024"/>
          </a:xfrm>
          <a:prstGeom prst="roundRect">
            <a:avLst/>
          </a:prstGeom>
          <a:solidFill>
            <a:srgbClr val="FAEDEB"/>
          </a:solidFill>
          <a:ln w="13970">
            <a:solidFill>
              <a:srgbClr val="A64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8" y="3730752"/>
            <a:ext cx="252374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83452"/>
                </a:solidFill>
                <a:latin typeface="Aptos"/>
              </a:defRPr>
            </a:pPr>
            <a:r>
              <a:t>Implementation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4160520"/>
            <a:ext cx="2505456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Retry only for selected</a:t>
            </a:r>
          </a:p>
          <a:p>
            <a:pPr algn="ctr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error classes.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49240"/>
            <a:ext cx="10149840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183452"/>
                </a:solidFill>
                <a:latin typeface="Aptos"/>
              </a:defRPr>
            </a:pPr>
            <a:r>
              <a:t>The goal is not to declare a clause defective. It is to help a human reviewer decide where to look first.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6473952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5B6974"/>
                </a:solidFill>
                <a:latin typeface="Aptos"/>
              </a:defRPr>
            </a:pPr>
            <a:r>
              <a:t>Illustrative example; not a quoted clause from the corpus.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02  | 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83452"/>
                </a:solidFill>
                <a:latin typeface="Aptos"/>
              </a:defRPr>
            </a:pPr>
            <a:r>
              <a:t>The research question is about prioritization—not verdicts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371600"/>
            <a:ext cx="10424160" cy="1307592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627632"/>
            <a:ext cx="969264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183452"/>
                </a:solidFill>
                <a:latin typeface="Aptos"/>
              </a:defRPr>
            </a:pPr>
            <a:r>
              <a:t>Can we rank draft clauses likely to be operationally ambiguous using only information available at that draft stage?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46120"/>
            <a:ext cx="3246120" cy="1572768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246120"/>
            <a:ext cx="82296" cy="1572768"/>
          </a:xfrm>
          <a:prstGeom prst="rect">
            <a:avLst/>
          </a:prstGeom>
          <a:solidFill>
            <a:srgbClr val="2D6596"/>
          </a:solidFill>
          <a:ln>
            <a:solidFill>
              <a:srgbClr val="2D6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429000"/>
            <a:ext cx="285292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452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3858768"/>
            <a:ext cx="2834639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A clause as it appeared in an Internet-Draft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246120"/>
            <a:ext cx="3246120" cy="1572768"/>
          </a:xfrm>
          <a:prstGeom prst="roundRect">
            <a:avLst/>
          </a:prstGeom>
          <a:solidFill>
            <a:srgbClr val="E7F5F3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3246120"/>
            <a:ext cx="82296" cy="1572768"/>
          </a:xfrm>
          <a:prstGeom prst="rect">
            <a:avLst/>
          </a:prstGeom>
          <a:solidFill>
            <a:srgbClr val="1C8585"/>
          </a:solidFill>
          <a:ln>
            <a:solidFill>
              <a:srgbClr val="1C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16" y="3429000"/>
            <a:ext cx="285292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452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3858768"/>
            <a:ext cx="2834639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A ranked queue for human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246120"/>
            <a:ext cx="3246120" cy="1572768"/>
          </a:xfrm>
          <a:prstGeom prst="roundRect">
            <a:avLst/>
          </a:prstGeom>
          <a:solidFill>
            <a:srgbClr val="FBF2E3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3246120"/>
            <a:ext cx="82296" cy="1572768"/>
          </a:xfrm>
          <a:prstGeom prst="rect">
            <a:avLst/>
          </a:prstGeom>
          <a:solidFill>
            <a:srgbClr val="DA8B35"/>
          </a:solidFill>
          <a:ln>
            <a:solidFill>
              <a:srgbClr val="DA8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3429000"/>
            <a:ext cx="285292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452"/>
                </a:solidFill>
                <a:latin typeface="Aptos"/>
              </a:defRPr>
            </a:pPr>
            <a:r>
              <a:t>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3858768"/>
            <a:ext cx="2834639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No automatic judgment of correctness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349240"/>
            <a:ext cx="9966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26313B"/>
                </a:solidFill>
                <a:latin typeface="Aptos"/>
              </a:defRPr>
            </a:pPr>
            <a:r>
              <a:t>Success means useful review allocation under a defensible evaluation—not “AI understands standards.”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6473952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5B6974"/>
                </a:solidFill>
                <a:latin typeface="Aptos"/>
              </a:defRPr>
            </a:pPr>
            <a:r>
              <a:t>Project framing: paper/main.tex, Introduction and Conclusion.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03  | 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83452"/>
                </a:solidFill>
                <a:latin typeface="Aptos"/>
              </a:defRPr>
            </a:pPr>
            <a:r>
              <a:t>Three traps can make an ambiguity detector look better than it 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PROBLEM FRAMING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429000" cy="2999232"/>
          </a:xfrm>
          <a:prstGeom prst="roundRect">
            <a:avLst/>
          </a:prstGeom>
          <a:solidFill>
            <a:srgbClr val="FAEDEB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82296" cy="2999232"/>
          </a:xfrm>
          <a:prstGeom prst="rect">
            <a:avLst/>
          </a:prstGeom>
          <a:solidFill>
            <a:srgbClr val="A6413E"/>
          </a:solidFill>
          <a:ln>
            <a:solidFill>
              <a:srgbClr val="A64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1600200"/>
            <a:ext cx="30358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83452"/>
                </a:solidFill>
                <a:latin typeface="Aptos"/>
              </a:defRPr>
            </a:pPr>
            <a:r>
              <a:t>1  Future-information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029968"/>
            <a:ext cx="3017520" cy="22494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6313B"/>
                </a:solidFill>
                <a:latin typeface="Aptos"/>
              </a:defRPr>
            </a:pPr>
            <a:r>
              <a:t>Later revisions, final RFCs, and errata can explain what became problematic—but they were not available at draft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2999232"/>
          </a:xfrm>
          <a:prstGeom prst="roundRect">
            <a:avLst/>
          </a:prstGeom>
          <a:solidFill>
            <a:srgbClr val="FBF2E3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82296" cy="2999232"/>
          </a:xfrm>
          <a:prstGeom prst="rect">
            <a:avLst/>
          </a:prstGeom>
          <a:solidFill>
            <a:srgbClr val="DA8B35"/>
          </a:solidFill>
          <a:ln>
            <a:solidFill>
              <a:srgbClr val="DA8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600200"/>
            <a:ext cx="30358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83452"/>
                </a:solidFill>
                <a:latin typeface="Aptos"/>
              </a:defRPr>
            </a:pPr>
            <a:r>
              <a:t>2  Repeated 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029968"/>
            <a:ext cx="3017520" cy="22494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6313B"/>
                </a:solidFill>
                <a:latin typeface="Aptos"/>
              </a:defRPr>
            </a:pPr>
            <a:r>
              <a:t>Related clauses recur across a document's revision lineage. Random clause splits can place near-duplicates in train and test.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417320"/>
            <a:ext cx="3429000" cy="2999232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417320"/>
            <a:ext cx="82296" cy="2999232"/>
          </a:xfrm>
          <a:prstGeom prst="rect">
            <a:avLst/>
          </a:prstGeom>
          <a:solidFill>
            <a:srgbClr val="2D6596"/>
          </a:solidFill>
          <a:ln>
            <a:solidFill>
              <a:srgbClr val="2D6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600200"/>
            <a:ext cx="30358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83452"/>
                </a:solidFill>
                <a:latin typeface="Aptos"/>
              </a:defRPr>
            </a:pPr>
            <a:r>
              <a:t>3  Rare, uncertain positives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2029968"/>
            <a:ext cx="3017520" cy="22494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6313B"/>
                </a:solidFill>
                <a:latin typeface="Aptos"/>
              </a:defRPr>
            </a:pPr>
            <a:r>
              <a:t>The latest DeBERTa cohort is 6.4% positive. Operational labels are AI-assisted and not expert-adjudicated gold.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10332720" cy="6766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183452"/>
                </a:solidFill>
                <a:latin typeface="Aptos"/>
              </a:defRPr>
            </a:pPr>
            <a:r>
              <a:t>So the central engineering problem is as much about information boundaries and evaluation design as model choice.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6473952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5B6974"/>
                </a:solidFill>
                <a:latin typeface="Aptos"/>
              </a:defRPr>
            </a:pPr>
            <a:r>
              <a:t>Source: paper/main.tex, Introduction; latest DeBERTa cohort.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04  | 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83452"/>
                </a:solidFill>
                <a:latin typeface="Aptos"/>
              </a:defRPr>
            </a:pPr>
            <a:r>
              <a:t>The project connects a corpus to several distinct studies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234440"/>
            <a:ext cx="3246120" cy="1280160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80744"/>
            <a:ext cx="3063239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3100" b="1">
                <a:solidFill>
                  <a:srgbClr val="2D6596"/>
                </a:solidFill>
                <a:latin typeface="Aptos"/>
              </a:defRPr>
            </a:pPr>
            <a:r>
              <a:t>253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7" y="1984248"/>
            <a:ext cx="3026663" cy="44805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Internet-Draft revisions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234440"/>
            <a:ext cx="3246120" cy="1280160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80744"/>
            <a:ext cx="3063239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3100" b="1">
                <a:solidFill>
                  <a:srgbClr val="2D659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1984248"/>
            <a:ext cx="3026663" cy="44805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RFCs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234440"/>
            <a:ext cx="3246120" cy="1280160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380744"/>
            <a:ext cx="3063239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3100" b="1">
                <a:solidFill>
                  <a:srgbClr val="2D6596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7" y="1984248"/>
            <a:ext cx="3026663" cy="44805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verified technical errata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880360"/>
            <a:ext cx="10012680" cy="658368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026664"/>
            <a:ext cx="2240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2D6596"/>
                </a:solidFill>
                <a:latin typeface="Aptos"/>
              </a:defRPr>
            </a:pPr>
            <a:r>
              <a:t>CLASSICAL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90088"/>
            <a:ext cx="3291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83452"/>
                </a:solidFill>
                <a:latin typeface="Aptos"/>
              </a:defRPr>
            </a:pPr>
            <a:r>
              <a:t>2,425 clauses · 11 families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017520"/>
            <a:ext cx="3611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160 positives · prevalence 6.60%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703320"/>
            <a:ext cx="10012680" cy="658368"/>
          </a:xfrm>
          <a:prstGeom prst="roundRect">
            <a:avLst/>
          </a:prstGeom>
          <a:solidFill>
            <a:srgbClr val="FBF2E3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3849624"/>
            <a:ext cx="2240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DA8B35"/>
                </a:solidFill>
                <a:latin typeface="Aptos"/>
              </a:defRPr>
            </a:pPr>
            <a:r>
              <a:t>QWEN / HYBRID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813048"/>
            <a:ext cx="3291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83452"/>
                </a:solidFill>
                <a:latin typeface="Aptos"/>
              </a:defRPr>
            </a:pPr>
            <a:r>
              <a:t>2,142 clauses · 9 families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840480"/>
            <a:ext cx="3611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126 positives · prevalence 5.88%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526280"/>
            <a:ext cx="10012680" cy="658368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672584"/>
            <a:ext cx="2240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1C8585"/>
                </a:solidFill>
                <a:latin typeface="Aptos"/>
              </a:defRPr>
            </a:pPr>
            <a:r>
              <a:t>LATEST DEBERTA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636008"/>
            <a:ext cx="3291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83452"/>
                </a:solidFill>
                <a:latin typeface="Aptos"/>
              </a:defRPr>
            </a:pPr>
            <a:r>
              <a:t>2,143 clauses · 9 families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663440"/>
            <a:ext cx="3611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138 positives · prevalence 6.44%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614416"/>
            <a:ext cx="100126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A6413E"/>
                </a:solidFill>
                <a:latin typeface="Aptos"/>
              </a:defRPr>
            </a:pPr>
            <a:r>
              <a:t>Different label snapshots and protocols: scores across these rows are not a common leaderboard.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6473952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5B6974"/>
                </a:solidFill>
                <a:latin typeface="Aptos"/>
              </a:defRPr>
            </a:pPr>
            <a:r>
              <a:t>Source: paper/main.tex; study-specific cohorts and label snapshots.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05  | 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83452"/>
                </a:solidFill>
                <a:latin typeface="Aptos"/>
              </a:defRPr>
            </a:pPr>
            <a:r>
              <a:t>The pipeline makes the information boundary explicit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38528"/>
            <a:ext cx="1170432" cy="1920240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1581912"/>
            <a:ext cx="384048" cy="384048"/>
          </a:xfrm>
          <a:prstGeom prst="ellipse">
            <a:avLst/>
          </a:prstGeom>
          <a:solidFill>
            <a:srgbClr val="2D6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86484"/>
            <a:ext cx="38404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157984"/>
            <a:ext cx="102412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83452"/>
                </a:solidFill>
                <a:latin typeface="Aptos"/>
              </a:defRPr>
            </a:pPr>
            <a:r>
              <a:t>Public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743200"/>
            <a:ext cx="1024128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Drafts · RFCs</a:t>
            </a:r>
          </a:p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errata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8216" y="2578608"/>
            <a:ext cx="365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D659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76272" y="1938528"/>
            <a:ext cx="1170432" cy="1920240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69464" y="1581912"/>
            <a:ext cx="384048" cy="384048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9464" y="1586484"/>
            <a:ext cx="38404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9424" y="2157984"/>
            <a:ext cx="102412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83452"/>
                </a:solidFill>
                <a:latin typeface="Aptos"/>
              </a:defRPr>
            </a:pPr>
            <a:r>
              <a:t>Parse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9424" y="2743200"/>
            <a:ext cx="1024128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Documents →</a:t>
            </a:r>
          </a:p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clauses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578608"/>
            <a:ext cx="365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D659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9624" y="1938528"/>
            <a:ext cx="1170432" cy="1920240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42816" y="1581912"/>
            <a:ext cx="384048" cy="384048"/>
          </a:xfrm>
          <a:prstGeom prst="ellipse">
            <a:avLst/>
          </a:prstGeom>
          <a:solidFill>
            <a:srgbClr val="DA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2816" y="1586484"/>
            <a:ext cx="38404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22776" y="2157984"/>
            <a:ext cx="102412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83452"/>
                </a:solidFill>
                <a:latin typeface="Aptos"/>
              </a:defRPr>
            </a:pPr>
            <a:r>
              <a:t>Track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22776" y="2743200"/>
            <a:ext cx="1024128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Revision alignment</a:t>
            </a:r>
          </a:p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&amp; lineage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578608"/>
            <a:ext cx="365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D659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22976" y="1938528"/>
            <a:ext cx="1170432" cy="1920240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16168" y="1581912"/>
            <a:ext cx="384048" cy="384048"/>
          </a:xfrm>
          <a:prstGeom prst="ellipse">
            <a:avLst/>
          </a:prstGeom>
          <a:solidFill>
            <a:srgbClr val="A64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16168" y="1586484"/>
            <a:ext cx="38404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96128" y="2157984"/>
            <a:ext cx="102412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83452"/>
                </a:solidFill>
                <a:latin typeface="Aptos"/>
              </a:defRPr>
            </a:pPr>
            <a:r>
              <a:t>Label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96128" y="2743200"/>
            <a:ext cx="1024128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AI-assisted</a:t>
            </a:r>
          </a:p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operational reference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2578608"/>
            <a:ext cx="365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D659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96328" y="1938528"/>
            <a:ext cx="1170432" cy="1920240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89520" y="1581912"/>
            <a:ext cx="384048" cy="384048"/>
          </a:xfrm>
          <a:prstGeom prst="ellipse">
            <a:avLst/>
          </a:prstGeom>
          <a:solidFill>
            <a:srgbClr val="2D6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1586484"/>
            <a:ext cx="38404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2157984"/>
            <a:ext cx="102412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83452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2743200"/>
            <a:ext cx="1024128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Rules · ML ·</a:t>
            </a:r>
          </a:p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LLM · transformer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1624" y="2578608"/>
            <a:ext cx="365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D659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9680" y="1938528"/>
            <a:ext cx="1170432" cy="1920240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262872" y="1581912"/>
            <a:ext cx="384048" cy="384048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62872" y="1586484"/>
            <a:ext cx="38404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42832" y="2157984"/>
            <a:ext cx="102412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83452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42832" y="2743200"/>
            <a:ext cx="1024128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Family-grouped</a:t>
            </a:r>
          </a:p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out-of-fold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94976" y="2578608"/>
            <a:ext cx="365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D659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43032" y="1938528"/>
            <a:ext cx="1170432" cy="1920240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936224" y="1581912"/>
            <a:ext cx="384048" cy="384048"/>
          </a:xfrm>
          <a:prstGeom prst="ellipse">
            <a:avLst/>
          </a:prstGeom>
          <a:solidFill>
            <a:srgbClr val="DA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36224" y="1586484"/>
            <a:ext cx="38404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16184" y="2157984"/>
            <a:ext cx="102412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83452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16184" y="2743200"/>
            <a:ext cx="1024128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Ranked human</a:t>
            </a:r>
          </a:p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review queue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" y="4315968"/>
            <a:ext cx="10561320" cy="749808"/>
          </a:xfrm>
          <a:prstGeom prst="roundRect">
            <a:avLst/>
          </a:prstGeom>
          <a:solidFill>
            <a:srgbClr val="FAEDEB"/>
          </a:solidFill>
          <a:ln w="13970">
            <a:solidFill>
              <a:srgbClr val="FAE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60704" y="4471416"/>
            <a:ext cx="10104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A6413E"/>
                </a:solidFill>
                <a:latin typeface="Aptos"/>
              </a:defRPr>
            </a:pPr>
            <a:r>
              <a:t>Prediction-time boundary: no later draft, final RFC, erratum, label, vote, rationale, or split metadata as model input.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5376672"/>
            <a:ext cx="9966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83452"/>
                </a:solidFill>
                <a:latin typeface="Aptos"/>
              </a:defRPr>
            </a:pPr>
            <a:r>
              <a:t>The latest all-family classical rerun includes TCP and DNS, so the proposal's project-level holdouts are no longer untouched.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" y="6473952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5B6974"/>
                </a:solidFill>
                <a:latin typeface="Aptos"/>
              </a:defRPr>
            </a:pPr>
            <a:r>
              <a:t>Source: paper/figures/project_pipeline.png and paper/main.tex.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06  | 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83452"/>
                </a:solidFill>
                <a:latin typeface="Aptos"/>
              </a:defRPr>
            </a:pPr>
            <a:r>
              <a:t>The label is an operational reference—not a definition of truth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325880"/>
            <a:ext cx="3154680" cy="1298448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72184"/>
            <a:ext cx="2971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3100" b="1">
                <a:solidFill>
                  <a:srgbClr val="A6413E"/>
                </a:solidFill>
                <a:latin typeface="Aptos"/>
              </a:defRPr>
            </a:pPr>
            <a:r>
              <a:t>95.6%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7" y="2075688"/>
            <a:ext cx="2935224" cy="46634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of positive labels were 2-to-1 votes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17136" y="1325880"/>
            <a:ext cx="3154680" cy="1298448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472184"/>
            <a:ext cx="2971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3100" b="1">
                <a:solidFill>
                  <a:srgbClr val="DA8B35"/>
                </a:solidFill>
                <a:latin typeface="Aptos"/>
              </a:defRPr>
            </a:pPr>
            <a:r>
              <a:t>20 / 455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2075688"/>
            <a:ext cx="2935224" cy="46634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positive labels were unanimous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5592" y="1325880"/>
            <a:ext cx="3154680" cy="1298448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472184"/>
            <a:ext cx="2971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3100" b="1">
                <a:solidFill>
                  <a:srgbClr val="2D6596"/>
                </a:solidFill>
                <a:latin typeface="Aptos"/>
              </a:defRPr>
            </a:pPr>
            <a:r>
              <a:t>0.017-0.113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075688"/>
            <a:ext cx="2935224" cy="46634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pairwise Cohen's kappa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063240"/>
            <a:ext cx="4983480" cy="1700784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3337560"/>
            <a:ext cx="43891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83452"/>
                </a:solidFill>
                <a:latin typeface="Aptos"/>
              </a:defRPr>
            </a:pPr>
            <a:r>
              <a:t>What the labels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822191"/>
            <a:ext cx="43434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A repeatable, provenance-recorded operational reference for development experiments.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3063240"/>
            <a:ext cx="4983480" cy="1700784"/>
          </a:xfrm>
          <a:prstGeom prst="roundRect">
            <a:avLst/>
          </a:prstGeom>
          <a:solidFill>
            <a:srgbClr val="FBF2E3"/>
          </a:solidFill>
          <a:ln w="13970">
            <a:solidFill>
              <a:srgbClr val="FBF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337560"/>
            <a:ext cx="43891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83452"/>
                </a:solidFill>
                <a:latin typeface="Aptos"/>
              </a:defRPr>
            </a:pPr>
            <a:r>
              <a:t>What they do not establish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822191"/>
            <a:ext cx="43434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Independent expert truth, human reliability, or population-level ambiguity accuracy.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85232"/>
            <a:ext cx="9966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A6413E"/>
                </a:solidFill>
                <a:latin typeface="Aptos"/>
              </a:defRPr>
            </a:pPr>
            <a:r>
              <a:t>Scores measure agreement with a noisy, model-dependent reference; they do not identify which annotator is correct.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6473952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5B6974"/>
                </a:solidFill>
                <a:latin typeface="Aptos"/>
              </a:defRPr>
            </a:pPr>
            <a:r>
              <a:t>Source: paper/main.tex, Annotation Disagreement Audit and Construct Validity.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07  | 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83452"/>
                </a:solidFill>
                <a:latin typeface="Aptos"/>
              </a:defRPr>
            </a:pPr>
            <a:r>
              <a:t>The project tests multiple model families—not one magic model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4983480" cy="1600200"/>
          </a:xfrm>
          <a:prstGeom prst="roundRect">
            <a:avLst/>
          </a:prstGeom>
          <a:solidFill>
            <a:srgbClr val="FBF2E3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82296" cy="1600200"/>
          </a:xfrm>
          <a:prstGeom prst="rect">
            <a:avLst/>
          </a:prstGeom>
          <a:solidFill>
            <a:srgbClr val="DA8B35"/>
          </a:solidFill>
          <a:ln>
            <a:solidFill>
              <a:srgbClr val="DA8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508760"/>
            <a:ext cx="459028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452"/>
                </a:solidFill>
                <a:latin typeface="Aptos"/>
              </a:defRPr>
            </a:pPr>
            <a:r>
              <a:t>Transparent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1938528"/>
            <a:ext cx="4572000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Hand-set lexical and structural cues; an interpretable low-cost baseline.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25880"/>
            <a:ext cx="4983480" cy="1600200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325880"/>
            <a:ext cx="82296" cy="1600200"/>
          </a:xfrm>
          <a:prstGeom prst="rect">
            <a:avLst/>
          </a:prstGeom>
          <a:solidFill>
            <a:srgbClr val="2D6596"/>
          </a:solidFill>
          <a:ln>
            <a:solidFill>
              <a:srgbClr val="2D6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508760"/>
            <a:ext cx="459028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452"/>
                </a:solidFill>
                <a:latin typeface="Aptos"/>
              </a:defRPr>
            </a:pPr>
            <a:r>
              <a:t>Classical 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1938528"/>
            <a:ext cx="4572000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Logistic regression / SVM; engineered clause features + TF–IDF.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46120"/>
            <a:ext cx="4983480" cy="1600200"/>
          </a:xfrm>
          <a:prstGeom prst="roundRect">
            <a:avLst/>
          </a:prstGeom>
          <a:solidFill>
            <a:srgbClr val="E7F5F3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246120"/>
            <a:ext cx="82296" cy="1600200"/>
          </a:xfrm>
          <a:prstGeom prst="rect">
            <a:avLst/>
          </a:prstGeom>
          <a:solidFill>
            <a:srgbClr val="1C8585"/>
          </a:solidFill>
          <a:ln>
            <a:solidFill>
              <a:srgbClr val="1C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429000"/>
            <a:ext cx="459028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452"/>
                </a:solidFill>
                <a:latin typeface="Aptos"/>
              </a:defRPr>
            </a:pPr>
            <a:r>
              <a:t>Transformers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858768"/>
            <a:ext cx="4572000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DeBERTa-v3-base; target-only fine-tuning and rank-based combinations.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246120"/>
            <a:ext cx="4983480" cy="1600200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246120"/>
            <a:ext cx="82296" cy="1600200"/>
          </a:xfrm>
          <a:prstGeom prst="rect">
            <a:avLst/>
          </a:prstGeom>
          <a:solidFill>
            <a:srgbClr val="183452"/>
          </a:solidFill>
          <a:ln>
            <a:solidFill>
              <a:srgbClr val="18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3429000"/>
            <a:ext cx="459028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452"/>
                </a:solidFill>
                <a:latin typeface="Aptos"/>
              </a:defRPr>
            </a:pPr>
            <a:r>
              <a:t>Local LLM &amp; hybrid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3858768"/>
            <a:ext cx="4572000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Qwen prompting plus lexical / MiniLM semantic signals in separate studies.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104241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26313B"/>
                </a:solidFill>
                <a:latin typeface="Aptos"/>
              </a:defRPr>
            </a:pPr>
            <a:r>
              <a:t>Revision-only signals and frozen embeddings were also examined; the tested versions were not consistently stronger.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6473952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5B6974"/>
                </a:solidFill>
                <a:latin typeface="Aptos"/>
              </a:defRPr>
            </a:pPr>
            <a:r>
              <a:t>Source: paper/main.tex; results/final_summary/conclusions.md.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08  | 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83452"/>
                </a:solidFill>
                <a:latin typeface="Aptos"/>
              </a:defRPr>
            </a:pPr>
            <a:r>
              <a:t>Evaluation is grouped to test transfer across protocol families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61872"/>
            <a:ext cx="47548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1C8585"/>
                </a:solidFill>
                <a:latin typeface="Aptos"/>
              </a:defRPr>
            </a:pPr>
            <a:r>
              <a:t>WHAT THE DESIGN PROTECTS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792224"/>
            <a:ext cx="164592" cy="164592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96795"/>
            <a:ext cx="1645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6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207008" y="1755648"/>
            <a:ext cx="4462272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6313B"/>
                </a:solidFill>
                <a:latin typeface="Aptos"/>
              </a:defRPr>
            </a:pPr>
            <a:r>
              <a:t>Keep related clauses from the same family together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578608"/>
            <a:ext cx="164592" cy="164592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83179"/>
            <a:ext cx="1645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6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207008" y="2542032"/>
            <a:ext cx="4462272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6313B"/>
                </a:solidFill>
                <a:latin typeface="Aptos"/>
              </a:defRPr>
            </a:pPr>
            <a:r>
              <a:t>Fit preprocessing and feature selection inside training folds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364991"/>
            <a:ext cx="164592" cy="164592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69563"/>
            <a:ext cx="1645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6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207008" y="3328415"/>
            <a:ext cx="4462272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6313B"/>
                </a:solidFill>
                <a:latin typeface="Aptos"/>
              </a:defRPr>
            </a:pPr>
            <a:r>
              <a:t>Use average precision (AP) under class imbalance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151376"/>
            <a:ext cx="164592" cy="164592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55948"/>
            <a:ext cx="1645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6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207008" y="4114800"/>
            <a:ext cx="4462272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6313B"/>
                </a:solidFill>
                <a:latin typeface="Aptos"/>
              </a:defRPr>
            </a:pPr>
            <a:r>
              <a:t>Report fixed review-budget retrieval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371600"/>
            <a:ext cx="5074920" cy="3429000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1691640"/>
            <a:ext cx="4434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183452"/>
                </a:solidFill>
                <a:latin typeface="Aptos"/>
              </a:defRPr>
            </a:pPr>
            <a:r>
              <a:t>Latest DeBERTa study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350008"/>
            <a:ext cx="1920240" cy="1417320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79" y="2496312"/>
            <a:ext cx="17373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3100" b="1">
                <a:solidFill>
                  <a:srgbClr val="1C8585"/>
                </a:solidFill>
                <a:latin typeface="Aptos"/>
              </a:defRPr>
            </a:pPr>
            <a:r>
              <a:t>5-fold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3099815"/>
            <a:ext cx="1700784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transformer family OOF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9408" y="2350008"/>
            <a:ext cx="1920240" cy="1417320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0848" y="2496312"/>
            <a:ext cx="17373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3100" b="1">
                <a:solidFill>
                  <a:srgbClr val="DA8B35"/>
                </a:solidFill>
                <a:latin typeface="Aptos"/>
              </a:defRPr>
            </a:pPr>
            <a:r>
              <a:t>3-fold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3099815"/>
            <a:ext cx="1700784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classical family 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4142232"/>
            <a:ext cx="45262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A6413E"/>
                </a:solidFill>
                <a:latin typeface="Aptos"/>
              </a:defRPr>
            </a:pPr>
            <a:r>
              <a:t>Protocols differ; the newest transformer also uses one seed.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5440680"/>
            <a:ext cx="1005840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183452"/>
                </a:solidFill>
                <a:latin typeface="Aptos"/>
              </a:defRPr>
            </a:pPr>
            <a:r>
              <a:t>No single score answers whether the system transfers to a new protocol family.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" y="6473952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5B6974"/>
                </a:solidFill>
                <a:latin typeface="Aptos"/>
              </a:defRPr>
            </a:pPr>
            <a:r>
              <a:t>Source: paper/main.tex, Evaluation Design and Results.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09  | 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83452"/>
                </a:solidFill>
                <a:latin typeface="Aptos"/>
              </a:defRPr>
            </a:pPr>
            <a:r>
              <a:t>Classical text features give the strongest result in their own cohort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RESULTS · CLASSICAL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43000"/>
            <a:ext cx="55778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5B6974"/>
                </a:solidFill>
                <a:latin typeface="Aptos"/>
              </a:defRPr>
            </a:pPr>
            <a:r>
              <a:t>2,425 clauses  ·  160 positives  ·  11 families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76063" y="1773936"/>
            <a:ext cx="0" cy="2798064"/>
          </a:xfrm>
          <a:prstGeom prst="line">
            <a:avLst/>
          </a:prstGeom>
          <a:ln w="15240">
            <a:solidFill>
              <a:srgbClr val="A6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12639" y="1563624"/>
            <a:ext cx="1005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A6413E"/>
                </a:solidFill>
                <a:latin typeface="Aptos"/>
              </a:defRPr>
            </a:pPr>
            <a:r>
              <a:t>base 0.066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34564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26313B"/>
                </a:solidFill>
                <a:latin typeface="Aptos"/>
              </a:defRPr>
            </a:pPr>
            <a:r>
              <a:t>Linear SVM: engineered + TF–IDF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883664"/>
            <a:ext cx="3482035" cy="310896"/>
          </a:xfrm>
          <a:prstGeom prst="rect">
            <a:avLst/>
          </a:prstGeom>
          <a:solidFill>
            <a:srgbClr val="1C8585"/>
          </a:solidFill>
          <a:ln>
            <a:solidFill>
              <a:srgbClr val="1C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99171" y="1856231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0.3584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14016"/>
            <a:ext cx="34564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Random forest: engineered + TF–IDF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450592"/>
            <a:ext cx="3267322" cy="310896"/>
          </a:xfrm>
          <a:prstGeom prst="rect">
            <a:avLst/>
          </a:prstGeom>
          <a:solidFill>
            <a:srgbClr val="183452"/>
          </a:solidFill>
          <a:ln>
            <a:solidFill>
              <a:srgbClr val="18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84458" y="2423160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0.3363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80944"/>
            <a:ext cx="34564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Logistic: engineered + TF–IDF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3017520"/>
            <a:ext cx="3172110" cy="310896"/>
          </a:xfrm>
          <a:prstGeom prst="rect">
            <a:avLst/>
          </a:prstGeom>
          <a:solidFill>
            <a:srgbClr val="2D6596"/>
          </a:solidFill>
          <a:ln>
            <a:solidFill>
              <a:srgbClr val="2D6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9246" y="2990087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0.3265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47872"/>
            <a:ext cx="34564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Fixed engineered heuristic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3584448"/>
            <a:ext cx="848163" cy="310896"/>
          </a:xfrm>
          <a:prstGeom prst="rect">
            <a:avLst/>
          </a:prstGeom>
          <a:solidFill>
            <a:srgbClr val="DA8B35"/>
          </a:solidFill>
          <a:ln>
            <a:solidFill>
              <a:srgbClr val="DA8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65299" y="3557015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0.0873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14800"/>
            <a:ext cx="34564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Positive prevalence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4151376"/>
            <a:ext cx="641223" cy="310896"/>
          </a:xfrm>
          <a:prstGeom prst="rect">
            <a:avLst/>
          </a:prstGeom>
          <a:solidFill>
            <a:srgbClr val="5B6974"/>
          </a:solidFill>
          <a:ln>
            <a:solidFill>
              <a:srgbClr val="5B6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58358" y="4123944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0.0660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828800"/>
            <a:ext cx="2331720" cy="2606040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62288" y="2103120"/>
            <a:ext cx="19202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1C8585"/>
                </a:solidFill>
                <a:latin typeface="Aptos"/>
              </a:defRPr>
            </a:pPr>
            <a:r>
              <a:t>Key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596896"/>
            <a:ext cx="1965960" cy="1417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83452"/>
                </a:solidFill>
                <a:latin typeface="Aptos"/>
              </a:defRPr>
            </a:pPr>
            <a:r>
              <a:t>Lexical plus engineered features lead this matched cohort; thresholds trade precision for recall.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193792"/>
            <a:ext cx="101498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A6413E"/>
                </a:solidFill>
                <a:latin typeface="Aptos"/>
              </a:defRPr>
            </a:pPr>
            <a:r>
              <a:t>Logistic recall is 0.706 at precision 0.190; SVM recall is 0.313 at precision 0.455. TCP and DNS are included, so this is not untouched holdout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6473952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5B6974"/>
                </a:solidFill>
                <a:latin typeface="Aptos"/>
              </a:defRPr>
            </a:pPr>
            <a:r>
              <a:t>Source: paper/main.tex, Table classical; matched 3-fold family-grouped OOF.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10  | 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83452"/>
                </a:solidFill>
                <a:latin typeface="Aptos"/>
              </a:defRPr>
            </a:pPr>
            <a:r>
              <a:t>Latest DeBERTa comparison: promising ranking, wide uncertainty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RESULTS ·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70432"/>
            <a:ext cx="103327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5B6974"/>
                </a:solidFill>
                <a:latin typeface="Aptos"/>
              </a:defRPr>
            </a:pPr>
            <a:r>
              <a:t>2,143 clauses  ·  138 positives  ·  9 families  ·  5-fold family-isolated OOF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97459" y="1975104"/>
            <a:ext cx="0" cy="2523744"/>
          </a:xfrm>
          <a:prstGeom prst="line">
            <a:avLst/>
          </a:prstGeom>
          <a:ln w="15240">
            <a:solidFill>
              <a:srgbClr val="A6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434035" y="1764792"/>
            <a:ext cx="1005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A6413E"/>
                </a:solidFill>
                <a:latin typeface="Aptos"/>
              </a:defRPr>
            </a:pPr>
            <a:r>
              <a:t>base 0.064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48256"/>
            <a:ext cx="29535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26313B"/>
                </a:solidFill>
                <a:latin typeface="Aptos"/>
              </a:defRPr>
            </a:pPr>
            <a:r>
              <a:t>Equal-weight ECDF ensemble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084832"/>
            <a:ext cx="2956511" cy="310896"/>
          </a:xfrm>
          <a:prstGeom prst="rect">
            <a:avLst/>
          </a:prstGeom>
          <a:solidFill>
            <a:srgbClr val="1C8585"/>
          </a:solidFill>
          <a:ln>
            <a:solidFill>
              <a:srgbClr val="1C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3607" y="2057400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0.6736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88336"/>
            <a:ext cx="29535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Focal loss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2724912"/>
            <a:ext cx="2555784" cy="310896"/>
          </a:xfrm>
          <a:prstGeom prst="rect">
            <a:avLst/>
          </a:prstGeom>
          <a:solidFill>
            <a:srgbClr val="DA8B35"/>
          </a:solidFill>
          <a:ln>
            <a:solidFill>
              <a:srgbClr val="DA8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2880" y="2697480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0.5823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328416"/>
            <a:ext cx="29535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Partial fine-tuning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3364992"/>
            <a:ext cx="2528572" cy="310896"/>
          </a:xfrm>
          <a:prstGeom prst="rect">
            <a:avLst/>
          </a:prstGeom>
          <a:solidFill>
            <a:srgbClr val="2D6596"/>
          </a:solidFill>
          <a:ln>
            <a:solidFill>
              <a:srgbClr val="2D6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5668" y="3337560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0.5761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968496"/>
            <a:ext cx="29535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Prevalence 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4005072"/>
            <a:ext cx="282659" cy="310896"/>
          </a:xfrm>
          <a:prstGeom prst="rect">
            <a:avLst/>
          </a:prstGeom>
          <a:solidFill>
            <a:srgbClr val="5B6974"/>
          </a:solidFill>
          <a:ln>
            <a:solidFill>
              <a:srgbClr val="5B6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9755" y="3977639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0.0644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1828800"/>
            <a:ext cx="2926080" cy="2468880"/>
          </a:xfrm>
          <a:prstGeom prst="roundRect">
            <a:avLst/>
          </a:prstGeom>
          <a:solidFill>
            <a:srgbClr val="E7F5F3"/>
          </a:solidFill>
          <a:ln w="13970">
            <a:solidFill>
              <a:srgbClr val="E7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2084831"/>
            <a:ext cx="2331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3000" b="1">
                <a:solidFill>
                  <a:srgbClr val="1C8585"/>
                </a:solidFill>
                <a:latin typeface="Aptos"/>
              </a:defRPr>
            </a:pPr>
            <a:r>
              <a:t>46 / 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688336"/>
            <a:ext cx="233172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26313B"/>
                </a:solidFill>
                <a:latin typeface="Aptos"/>
              </a:defRPr>
            </a:pPr>
            <a:r>
              <a:t>operational positives among the top 50 ranked clauses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58784" y="3749039"/>
            <a:ext cx="248716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5B6974"/>
                </a:solidFill>
                <a:latin typeface="Aptos"/>
              </a:defRPr>
            </a:pPr>
            <a:r>
              <a:t>Ensemble AP family interval: 0.592–0.764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892040"/>
            <a:ext cx="1014984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A6413E"/>
                </a:solidFill>
                <a:latin typeface="Aptos"/>
              </a:defRPr>
            </a:pPr>
            <a:r>
              <a:t>The ECDF ensemble is a ranking score, not a calibrated probability. Intervals overlap across nine families; the 100 labels were error-selected, and this repair reuses parent predictions—not an independent test.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6473952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5B6974"/>
                </a:solidFill>
                <a:latin typeface="Aptos"/>
              </a:defRPr>
            </a:pPr>
            <a:r>
              <a:t>Source: updated reviewed-label DeBERTa outputs; paper/main.tex. OOF development results.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11  | 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83452"/>
                </a:solidFill>
                <a:latin typeface="Aptos"/>
              </a:defRPr>
            </a:pPr>
            <a:r>
              <a:t>Revision history did not improve ranking AP in the matched rerun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RESULTS · REVISION ABLATION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24712"/>
            <a:ext cx="105156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5B6974"/>
                </a:solidFill>
                <a:latin typeface="Aptos"/>
              </a:defRPr>
            </a:pPr>
            <a:r>
              <a:t>Same 2,425 rows, grouped folds, engineered features, TF–IDF, and classifier settings; only 12 past-only revision features change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52645" y="1746504"/>
            <a:ext cx="0" cy="2980944"/>
          </a:xfrm>
          <a:prstGeom prst="line">
            <a:avLst/>
          </a:prstGeom>
          <a:ln w="15240">
            <a:solidFill>
              <a:srgbClr val="A6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89221" y="1536192"/>
            <a:ext cx="1005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A6413E"/>
                </a:solidFill>
                <a:latin typeface="Aptos"/>
              </a:defRPr>
            </a:pPr>
            <a:r>
              <a:t>base 0.066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19656"/>
            <a:ext cx="2633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Logistic baseline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856231"/>
            <a:ext cx="3396024" cy="310896"/>
          </a:xfrm>
          <a:prstGeom prst="rect">
            <a:avLst/>
          </a:prstGeom>
          <a:solidFill>
            <a:srgbClr val="2D6596"/>
          </a:solidFill>
          <a:ln>
            <a:solidFill>
              <a:srgbClr val="2D6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4480" y="1828800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0.3265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22576"/>
            <a:ext cx="2633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Logistic + revision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2359152"/>
            <a:ext cx="3312814" cy="310896"/>
          </a:xfrm>
          <a:prstGeom prst="rect">
            <a:avLst/>
          </a:prstGeom>
          <a:solidFill>
            <a:srgbClr val="7EA9CF"/>
          </a:solidFill>
          <a:ln>
            <a:solidFill>
              <a:srgbClr val="7EA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1270" y="2331720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0.3185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25496"/>
            <a:ext cx="2633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SVM 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862072"/>
            <a:ext cx="3727825" cy="310896"/>
          </a:xfrm>
          <a:prstGeom prst="rect">
            <a:avLst/>
          </a:prstGeom>
          <a:solidFill>
            <a:srgbClr val="1C8585"/>
          </a:solidFill>
          <a:ln>
            <a:solidFill>
              <a:srgbClr val="1C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6281" y="2834639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0.3584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328416"/>
            <a:ext cx="2633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SVM + revision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3364992"/>
            <a:ext cx="3715344" cy="310896"/>
          </a:xfrm>
          <a:prstGeom prst="rect">
            <a:avLst/>
          </a:prstGeom>
          <a:solidFill>
            <a:srgbClr val="76B9B3"/>
          </a:solidFill>
          <a:ln>
            <a:solidFill>
              <a:srgbClr val="76B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3800" y="3337560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0.3572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831336"/>
            <a:ext cx="2633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Random forest baseline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3867912"/>
            <a:ext cx="3497957" cy="310896"/>
          </a:xfrm>
          <a:prstGeom prst="rect">
            <a:avLst/>
          </a:prstGeom>
          <a:solidFill>
            <a:srgbClr val="183452"/>
          </a:solidFill>
          <a:ln>
            <a:solidFill>
              <a:srgbClr val="18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46413" y="3840480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0.3363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334256"/>
            <a:ext cx="2633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Random forest + revision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4370832"/>
            <a:ext cx="3482355" cy="310896"/>
          </a:xfrm>
          <a:prstGeom prst="rect">
            <a:avLst/>
          </a:prstGeom>
          <a:solidFill>
            <a:srgbClr val="667D94"/>
          </a:solidFill>
          <a:ln>
            <a:solidFill>
              <a:srgbClr val="667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0811" y="4343400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0.3348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1700784"/>
            <a:ext cx="2697480" cy="3090672"/>
          </a:xfrm>
          <a:prstGeom prst="roundRect">
            <a:avLst/>
          </a:prstGeom>
          <a:solidFill>
            <a:srgbClr val="FBF2E3"/>
          </a:solidFill>
          <a:ln w="13970">
            <a:solidFill>
              <a:srgbClr val="FBF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1947672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83452"/>
                </a:solidFill>
                <a:latin typeface="Aptos"/>
              </a:defRPr>
            </a:pPr>
            <a:r>
              <a:t>AP deltas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6528" y="2514600"/>
            <a:ext cx="2212848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A6413E"/>
                </a:solidFill>
                <a:latin typeface="Aptos"/>
              </a:defRPr>
            </a:pPr>
            <a:r>
              <a:t>Logistic  -0.0081</a:t>
            </a:r>
          </a:p>
          <a:p>
            <a:pPr algn="ctr">
              <a:spcAft>
                <a:spcPts val="500"/>
              </a:spcAft>
              <a:defRPr sz="1700" b="1">
                <a:solidFill>
                  <a:srgbClr val="A6413E"/>
                </a:solidFill>
                <a:latin typeface="Aptos"/>
              </a:defRPr>
            </a:pPr>
            <a:r>
              <a:t>SVM       -0.0012</a:t>
            </a:r>
          </a:p>
          <a:p>
            <a:pPr algn="ctr">
              <a:spcAft>
                <a:spcPts val="500"/>
              </a:spcAft>
              <a:defRPr sz="1700" b="1">
                <a:solidFill>
                  <a:srgbClr val="A6413E"/>
                </a:solidFill>
                <a:latin typeface="Aptos"/>
              </a:defRPr>
            </a:pPr>
            <a:r>
              <a:t>Forest    -0.0015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749039"/>
            <a:ext cx="2340864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6313B"/>
                </a:solidFill>
                <a:latin typeface="Aptos"/>
              </a:defRPr>
            </a:pPr>
            <a:r>
              <a:t>F2: unchanged for logistic; small gains for SVM and forest.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30368"/>
            <a:ext cx="102870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A6413E"/>
                </a:solidFill>
                <a:latin typeface="Aptos"/>
              </a:defRPr>
            </a:pPr>
            <a:r>
              <a:t>RQ2 is only partly answered: cross-reference features were not isolated and no calibration metrics were recorded.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" y="6473952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5B6974"/>
                </a:solidFill>
                <a:latin typeface="Aptos"/>
              </a:defRPr>
            </a:pPr>
            <a:r>
              <a:t>Source: paper/main.tex, Revision-Feature Implementation and Feature Comparisons.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12  | 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83452"/>
                </a:solidFill>
                <a:latin typeface="Aptos"/>
              </a:defRPr>
            </a:pPr>
            <a:r>
              <a:t>LLM experiment: V4 ranks best on the development cohort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RESULTS ·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24712"/>
            <a:ext cx="104241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5B6974"/>
                </a:solidFill>
                <a:latin typeface="Aptos"/>
              </a:defRPr>
            </a:pPr>
            <a:r>
              <a:t>2,142 clauses  ·  126 positives  ·  9 families  ·  five family-held-out folds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22750" y="1792224"/>
            <a:ext cx="0" cy="2752344"/>
          </a:xfrm>
          <a:prstGeom prst="line">
            <a:avLst/>
          </a:prstGeom>
          <a:ln w="15240">
            <a:solidFill>
              <a:srgbClr val="A6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059326" y="1581912"/>
            <a:ext cx="1005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A6413E"/>
                </a:solidFill>
                <a:latin typeface="Aptos"/>
              </a:defRPr>
            </a:pPr>
            <a:r>
              <a:t>base 0.059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65376"/>
            <a:ext cx="23134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V1 best raw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901952"/>
            <a:ext cx="2588768" cy="310896"/>
          </a:xfrm>
          <a:prstGeom prst="rect">
            <a:avLst/>
          </a:prstGeom>
          <a:solidFill>
            <a:srgbClr val="2D6596"/>
          </a:solidFill>
          <a:ln>
            <a:solidFill>
              <a:srgbClr val="2D6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17183" y="1874519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0.1960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23134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V2 best raw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2459736"/>
            <a:ext cx="1367028" cy="310896"/>
          </a:xfrm>
          <a:prstGeom prst="rect">
            <a:avLst/>
          </a:prstGeom>
          <a:solidFill>
            <a:srgbClr val="DA8B35"/>
          </a:solidFill>
          <a:ln>
            <a:solidFill>
              <a:srgbClr val="DA8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5444" y="2432303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0.1035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80944"/>
            <a:ext cx="23134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V3 nested hybrid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3017520"/>
            <a:ext cx="3373323" cy="310896"/>
          </a:xfrm>
          <a:prstGeom prst="rect">
            <a:avLst/>
          </a:prstGeom>
          <a:solidFill>
            <a:srgbClr val="183452"/>
          </a:solidFill>
          <a:ln>
            <a:solidFill>
              <a:srgbClr val="18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1739" y="2990087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0.2554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38728"/>
            <a:ext cx="23134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26313B"/>
                </a:solidFill>
                <a:latin typeface="Aptos"/>
              </a:defRPr>
            </a:pPr>
            <a:r>
              <a:t>V4 semantic ensemble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3575304"/>
            <a:ext cx="4295241" cy="310896"/>
          </a:xfrm>
          <a:prstGeom prst="rect">
            <a:avLst/>
          </a:prstGeom>
          <a:solidFill>
            <a:srgbClr val="1C8585"/>
          </a:solidFill>
          <a:ln>
            <a:solidFill>
              <a:srgbClr val="1C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3657" y="3547872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0.3252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96511"/>
            <a:ext cx="23134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Positive prevalence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4133087"/>
            <a:ext cx="776630" cy="310896"/>
          </a:xfrm>
          <a:prstGeom prst="rect">
            <a:avLst/>
          </a:prstGeom>
          <a:solidFill>
            <a:srgbClr val="5B6974"/>
          </a:solidFill>
          <a:ln>
            <a:solidFill>
              <a:srgbClr val="5B6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05046" y="4105655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0.0588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1847088"/>
            <a:ext cx="2468880" cy="2651760"/>
          </a:xfrm>
          <a:prstGeom prst="roundRect">
            <a:avLst/>
          </a:prstGeom>
          <a:solidFill>
            <a:srgbClr val="E7F5F3"/>
          </a:solidFill>
          <a:ln w="13970">
            <a:solidFill>
              <a:srgbClr val="E7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0848" y="2075688"/>
            <a:ext cx="19659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C8585"/>
                </a:solidFill>
                <a:latin typeface="Aptos"/>
              </a:defRPr>
            </a:pPr>
            <a:r>
              <a:t>V4 at raw 0.5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697480"/>
            <a:ext cx="1993392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83452"/>
                </a:solidFill>
                <a:latin typeface="Aptos"/>
              </a:defRPr>
            </a:pPr>
            <a:r>
              <a:t>AP  0.3252</a:t>
            </a:r>
          </a:p>
          <a:p>
            <a:pPr algn="ctr">
              <a:spcAft>
                <a:spcPts val="500"/>
              </a:spcAft>
              <a:defRPr sz="1800" b="1">
                <a:solidFill>
                  <a:srgbClr val="183452"/>
                </a:solidFill>
                <a:latin typeface="Aptos"/>
              </a:defRPr>
            </a:pPr>
            <a:r>
              <a:t>Recall  0.524</a:t>
            </a:r>
          </a:p>
          <a:p>
            <a:pPr algn="ctr">
              <a:spcAft>
                <a:spcPts val="500"/>
              </a:spcAft>
              <a:defRPr sz="1800" b="1">
                <a:solidFill>
                  <a:srgbClr val="183452"/>
                </a:solidFill>
                <a:latin typeface="Aptos"/>
              </a:defRPr>
            </a:pPr>
            <a:r>
              <a:t>F2  0.421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88552" y="4087368"/>
            <a:ext cx="2148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C8585"/>
                </a:solidFill>
                <a:latin typeface="Aptos"/>
              </a:defRPr>
            </a:pPr>
            <a:r>
              <a:t>5.5× prevalence 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074920"/>
            <a:ext cx="102870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A6413E"/>
                </a:solidFill>
                <a:latin typeface="Aptos"/>
              </a:defRPr>
            </a:pPr>
            <a:r>
              <a:t>V4 combines the V3 signal with frozen target and context MiniLM signals. Adaptive development comparison—not a sealed test; V4 design was informed by this cohort.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" y="6473952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5B6974"/>
                </a:solidFill>
                <a:latin typeface="Aptos"/>
              </a:defRPr>
            </a:pPr>
            <a:r>
              <a:t>Source: V4 analysis-final pooled_metrics.csv and V1–V4 comparison; family-held-out development OOF.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13  | 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83452"/>
                </a:solidFill>
                <a:latin typeface="Aptos"/>
              </a:defRPr>
            </a:pPr>
            <a:r>
              <a:t>Hybrid routing preserves effectiveness with fewer LLM calls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RESULTS · HYBRID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97280"/>
            <a:ext cx="10424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5B6974"/>
                </a:solidFill>
                <a:latin typeface="Aptos"/>
              </a:defRPr>
            </a:pPr>
            <a:r>
              <a:t>2,096 aligned clauses  ·  109 positives  ·  46 label conflicts excluded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00200"/>
            <a:ext cx="2057400" cy="1078992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1874519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1C8585"/>
                </a:solidFill>
                <a:latin typeface="Aptos"/>
              </a:defRPr>
            </a:pPr>
            <a:r>
              <a:t>441 / 2,096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2221992"/>
            <a:ext cx="1837943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6313B"/>
                </a:solidFill>
                <a:latin typeface="Aptos"/>
              </a:defRPr>
            </a:pPr>
            <a:r>
              <a:t>Qwen calls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75887" y="1600200"/>
            <a:ext cx="2057400" cy="1078992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67327" y="1719072"/>
            <a:ext cx="1874519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2D6596"/>
                </a:solidFill>
                <a:latin typeface="Aptos"/>
              </a:defRPr>
            </a:pPr>
            <a:r>
              <a:t>79.0%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5615" y="2221992"/>
            <a:ext cx="1837943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6313B"/>
                </a:solidFill>
                <a:latin typeface="Aptos"/>
              </a:defRPr>
            </a:pPr>
            <a:r>
              <a:t>calls saved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83096" y="1600200"/>
            <a:ext cx="2057400" cy="1078992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1719072"/>
            <a:ext cx="1874519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183452"/>
                </a:solidFill>
                <a:latin typeface="Aptos"/>
              </a:defRPr>
            </a:pPr>
            <a:r>
              <a:t>0.330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2824" y="2221992"/>
            <a:ext cx="1837943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6313B"/>
                </a:solidFill>
                <a:latin typeface="Aptos"/>
              </a:defRPr>
            </a:pPr>
            <a:r>
              <a:t>hybrid 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90304" y="1600200"/>
            <a:ext cx="2057400" cy="1078992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81744" y="1719072"/>
            <a:ext cx="1874519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DA8B35"/>
                </a:solidFill>
                <a:latin typeface="Aptos"/>
              </a:defRPr>
            </a:pPr>
            <a:r>
              <a:t>0.457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32" y="2221992"/>
            <a:ext cx="1837943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6313B"/>
                </a:solidFill>
                <a:latin typeface="Aptos"/>
              </a:defRPr>
            </a:pPr>
            <a:r>
              <a:t>hybrid F2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852928"/>
            <a:ext cx="27432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1C8585"/>
                </a:solidFill>
                <a:latin typeface="Aptos"/>
              </a:defRPr>
            </a:pPr>
            <a:r>
              <a:t>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852928"/>
            <a:ext cx="15544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C8585"/>
                </a:solidFill>
                <a:latin typeface="Aptos"/>
              </a:defRPr>
            </a:pPr>
            <a:r>
              <a:t>Calls saved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2852928"/>
            <a:ext cx="13716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C8585"/>
                </a:solidFill>
                <a:latin typeface="Aptos"/>
              </a:defRPr>
            </a:pPr>
            <a:r>
              <a:t>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852928"/>
            <a:ext cx="12801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C8585"/>
                </a:solidFill>
                <a:latin typeface="Aptos"/>
              </a:defRPr>
            </a:pPr>
            <a:r>
              <a:t>F2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852928"/>
            <a:ext cx="12801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C8585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2852928"/>
            <a:ext cx="12344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C8585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" y="3227832"/>
            <a:ext cx="10927080" cy="384048"/>
          </a:xfrm>
          <a:prstGeom prst="rect">
            <a:avLst/>
          </a:prstGeom>
          <a:solidFill>
            <a:srgbClr val="F2F7FA"/>
          </a:solidFill>
          <a:ln w="762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255263"/>
            <a:ext cx="27432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6313B"/>
                </a:solidFill>
                <a:latin typeface="Aptos"/>
              </a:defRPr>
            </a:pPr>
            <a:r>
              <a:t>ML-only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255263"/>
            <a:ext cx="15544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6313B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255263"/>
            <a:ext cx="13716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6313B"/>
                </a:solidFill>
                <a:latin typeface="Aptos"/>
              </a:defRPr>
            </a:pPr>
            <a:r>
              <a:t>0.326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255263"/>
            <a:ext cx="12801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6313B"/>
                </a:solidFill>
                <a:latin typeface="Aptos"/>
              </a:defRPr>
            </a:pPr>
            <a:r>
              <a:t>0.418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255263"/>
            <a:ext cx="12801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6313B"/>
                </a:solidFill>
                <a:latin typeface="Aptos"/>
              </a:defRPr>
            </a:pPr>
            <a:r>
              <a:t>0.716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3255263"/>
            <a:ext cx="12344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6313B"/>
                </a:solidFill>
                <a:latin typeface="Aptos"/>
              </a:defRPr>
            </a:pPr>
            <a:r>
              <a:t>0.157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9536" y="3666744"/>
            <a:ext cx="1092708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694176"/>
            <a:ext cx="27432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6313B"/>
                </a:solidFill>
                <a:latin typeface="Aptos"/>
              </a:defRPr>
            </a:pPr>
            <a:r>
              <a:t>LLM-only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3694176"/>
            <a:ext cx="15544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6313B"/>
                </a:solidFill>
                <a:latin typeface="Aptos"/>
              </a:defRPr>
            </a:pPr>
            <a:r>
              <a:t>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23560" y="3694176"/>
            <a:ext cx="13716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6313B"/>
                </a:solidFill>
                <a:latin typeface="Aptos"/>
              </a:defRPr>
            </a:pPr>
            <a:r>
              <a:t>0.372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3694176"/>
            <a:ext cx="12801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6313B"/>
                </a:solidFill>
                <a:latin typeface="Aptos"/>
              </a:defRPr>
            </a:pPr>
            <a:r>
              <a:t>0.447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3694176"/>
            <a:ext cx="12801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6313B"/>
                </a:solidFill>
                <a:latin typeface="Aptos"/>
              </a:defRPr>
            </a:pPr>
            <a:r>
              <a:t>0.569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3694176"/>
            <a:ext cx="12344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6313B"/>
                </a:solidFill>
                <a:latin typeface="Aptos"/>
              </a:defRPr>
            </a:pPr>
            <a:r>
              <a:t>0.241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9536" y="4105656"/>
            <a:ext cx="10927080" cy="384048"/>
          </a:xfrm>
          <a:prstGeom prst="rect">
            <a:avLst/>
          </a:prstGeom>
          <a:solidFill>
            <a:srgbClr val="E7F5F3"/>
          </a:solidFill>
          <a:ln w="762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133088"/>
            <a:ext cx="27432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183452"/>
                </a:solidFill>
                <a:latin typeface="Aptos"/>
              </a:defRPr>
            </a:pPr>
            <a:r>
              <a:t>Hybrid (0.4, 0.7)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4133088"/>
            <a:ext cx="15544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83452"/>
                </a:solidFill>
                <a:latin typeface="Aptos"/>
              </a:defRPr>
            </a:pPr>
            <a:r>
              <a:t>79.0%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4133088"/>
            <a:ext cx="13716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83452"/>
                </a:solidFill>
                <a:latin typeface="Aptos"/>
              </a:defRPr>
            </a:pPr>
            <a:r>
              <a:t>0.330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4133088"/>
            <a:ext cx="12801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83452"/>
                </a:solidFill>
                <a:latin typeface="Aptos"/>
              </a:defRPr>
            </a:pPr>
            <a:r>
              <a:t>0.457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4133088"/>
            <a:ext cx="12801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83452"/>
                </a:solidFill>
                <a:latin typeface="Aptos"/>
              </a:defRPr>
            </a:pPr>
            <a:r>
              <a:t>0.624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4133088"/>
            <a:ext cx="12344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83452"/>
                </a:solidFill>
                <a:latin typeface="Aptos"/>
              </a:defRPr>
            </a:pPr>
            <a:r>
              <a:t>0.221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9536" y="4544568"/>
            <a:ext cx="1092708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4572000"/>
            <a:ext cx="27432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6313B"/>
                </a:solidFill>
                <a:latin typeface="Aptos"/>
              </a:defRPr>
            </a:pPr>
            <a:r>
              <a:t>Random budget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4572000"/>
            <a:ext cx="15544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6313B"/>
                </a:solidFill>
                <a:latin typeface="Aptos"/>
              </a:defRPr>
            </a:pPr>
            <a:r>
              <a:t>79.0%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4572000"/>
            <a:ext cx="13716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6313B"/>
                </a:solidFill>
                <a:latin typeface="Aptos"/>
              </a:defRPr>
            </a:pPr>
            <a:r>
              <a:t>0.302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0" y="4572000"/>
            <a:ext cx="12801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6313B"/>
                </a:solidFill>
                <a:latin typeface="Aptos"/>
              </a:defRPr>
            </a:pPr>
            <a:r>
              <a:t>0.423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4572000"/>
            <a:ext cx="12801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6313B"/>
                </a:solidFill>
                <a:latin typeface="Aptos"/>
              </a:defRPr>
            </a:pPr>
            <a:r>
              <a:t>0.685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9840" y="4572000"/>
            <a:ext cx="12344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6313B"/>
                </a:solidFill>
                <a:latin typeface="Aptos"/>
              </a:defRPr>
            </a:pPr>
            <a:r>
              <a:t>0.167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8680" y="5138928"/>
            <a:ext cx="10881360" cy="841248"/>
          </a:xfrm>
          <a:prstGeom prst="roundRect">
            <a:avLst/>
          </a:prstGeom>
          <a:solidFill>
            <a:srgbClr val="FBF2E3"/>
          </a:solidFill>
          <a:ln w="13970">
            <a:solidFill>
              <a:srgbClr val="FBF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78992" y="5276088"/>
            <a:ext cx="104698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6313B"/>
                </a:solidFill>
                <a:latin typeface="Aptos"/>
              </a:defRPr>
            </a:pPr>
            <a:r>
              <a:t>Paired family-bootstrap Δ vs LLM-only: AP −0.042 (95% CI −0.305 to 0.085); F2 +0.010 (−0.059 to 0.057). Both CIs include zero: exploratory evidence, not proof of equivalence. Stored V4 scores simulate LLM answers; no new calls were made.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" y="6473952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5B6974"/>
                </a:solidFill>
                <a:latin typeface="Aptos"/>
              </a:defRPr>
            </a:pPr>
            <a:r>
              <a:t>Source: results/hybrid/routing_vs_llm_only; primary heuristic ML band (0.4, 0.7); 1,000 family-cluster resamples.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14  | 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83452"/>
                </a:solidFill>
                <a:latin typeface="Aptos"/>
              </a:defRPr>
            </a:pPr>
            <a:r>
              <a:t>The report answers some questions and leaves two open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SYNTHESIS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188720"/>
            <a:ext cx="10424160" cy="658368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344168"/>
            <a:ext cx="6583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C8585"/>
                </a:solidFill>
                <a:latin typeface="Aptos"/>
              </a:defRPr>
            </a:pPr>
            <a:r>
              <a:t>RQ1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7088" y="1325880"/>
            <a:ext cx="36576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83452"/>
                </a:solidFill>
                <a:latin typeface="Aptos"/>
              </a:defRPr>
            </a:pPr>
            <a:r>
              <a:t>Development 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325880"/>
            <a:ext cx="52120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50" b="0">
                <a:solidFill>
                  <a:srgbClr val="26313B"/>
                </a:solidFill>
                <a:latin typeface="Aptos"/>
              </a:defRPr>
            </a:pPr>
            <a:r>
              <a:t>Supported with qualifications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20824"/>
            <a:ext cx="1042416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176272"/>
            <a:ext cx="6583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DA8B35"/>
                </a:solidFill>
                <a:latin typeface="Aptos"/>
              </a:defRPr>
            </a:pPr>
            <a:r>
              <a:t>RQ2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2157984"/>
            <a:ext cx="36576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83452"/>
                </a:solidFill>
                <a:latin typeface="Aptos"/>
              </a:defRPr>
            </a:pPr>
            <a:r>
              <a:t>Revision / cross-reference / calibration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157984"/>
            <a:ext cx="52120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50" b="0">
                <a:solidFill>
                  <a:srgbClr val="26313B"/>
                </a:solidFill>
                <a:latin typeface="Aptos"/>
              </a:defRPr>
            </a:pPr>
            <a:r>
              <a:t>Partly answered; AP hypothesis not supported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852928"/>
            <a:ext cx="10424160" cy="658368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008376"/>
            <a:ext cx="6583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2D6596"/>
                </a:solidFill>
                <a:latin typeface="Aptos"/>
              </a:defRPr>
            </a:pPr>
            <a:r>
              <a:t>RQ3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7088" y="2990088"/>
            <a:ext cx="36576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83452"/>
                </a:solidFill>
                <a:latin typeface="Aptos"/>
              </a:defRPr>
            </a:pPr>
            <a:r>
              <a:t>Model-family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990088"/>
            <a:ext cx="52120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50" b="0">
                <a:solidFill>
                  <a:srgbClr val="26313B"/>
                </a:solidFill>
                <a:latin typeface="Aptos"/>
              </a:defRPr>
            </a:pPr>
            <a:r>
              <a:t>Effectiveness/workload only; separate protocols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685032"/>
            <a:ext cx="1042416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840480"/>
            <a:ext cx="6583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DA8B35"/>
                </a:solidFill>
                <a:latin typeface="Aptos"/>
              </a:defRPr>
            </a:pPr>
            <a:r>
              <a:t>RQ4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3822192"/>
            <a:ext cx="36576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83452"/>
                </a:solidFill>
                <a:latin typeface="Aptos"/>
              </a:defRPr>
            </a:pPr>
            <a:r>
              <a:t>Conditional LLM 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822192"/>
            <a:ext cx="52120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50" b="0">
                <a:solidFill>
                  <a:srgbClr val="26313B"/>
                </a:solidFill>
                <a:latin typeface="Aptos"/>
              </a:defRPr>
            </a:pPr>
            <a:r>
              <a:t>Exploratory replay: 79% fewer calls; no sealed 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517136"/>
            <a:ext cx="10424160" cy="658368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672584"/>
            <a:ext cx="6583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A6413E"/>
                </a:solidFill>
                <a:latin typeface="Aptos"/>
              </a:defRPr>
            </a:pPr>
            <a:r>
              <a:t>RQ5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47088" y="4654296"/>
            <a:ext cx="36576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83452"/>
                </a:solidFill>
                <a:latin typeface="Aptos"/>
              </a:defRPr>
            </a:pPr>
            <a:r>
              <a:t>Explanation 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654296"/>
            <a:ext cx="52120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50" b="0">
                <a:solidFill>
                  <a:srgbClr val="26313B"/>
                </a:solidFill>
                <a:latin typeface="Aptos"/>
              </a:defRPr>
            </a:pPr>
            <a:r>
              <a:t>Not tested with expert faithfulness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532120"/>
            <a:ext cx="1019556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5B6974"/>
                </a:solidFill>
                <a:latin typeface="Aptos"/>
              </a:defRPr>
            </a:pPr>
            <a:r>
              <a:t>Routing gains are retrospective estimates from stored scores—not observed call or cost savings.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6473952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5B6974"/>
                </a:solidFill>
                <a:latin typeface="Aptos"/>
              </a:defRPr>
            </a:pPr>
            <a:r>
              <a:t>Source: paper/main.tex and results/hybrid/routing_vs_llm_only/summary.md.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15  | 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83452"/>
                </a:solidFill>
                <a:latin typeface="Aptos"/>
              </a:defRPr>
            </a:pPr>
            <a:r>
              <a:t>The main limitations are scientific—not just engineering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VALIDITY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10287000" cy="630936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389888"/>
            <a:ext cx="182880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A6413E"/>
                </a:solidFill>
                <a:latin typeface="Aptos"/>
              </a:defRPr>
            </a:pPr>
            <a:r>
              <a:t>Construct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90672" y="1371600"/>
            <a:ext cx="7772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Low-agreement AI-assisted labels; no adjudicated expert gold.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48256"/>
            <a:ext cx="10287000" cy="63093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203704"/>
            <a:ext cx="182880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83452"/>
                </a:solidFill>
                <a:latin typeface="Aptos"/>
              </a:defRPr>
            </a:pPr>
            <a:r>
              <a:t>Sampling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2185416"/>
            <a:ext cx="7772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Enriched candidates; scores do not represent every IETF clause.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862072"/>
            <a:ext cx="10287000" cy="630936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017520"/>
            <a:ext cx="182880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83452"/>
                </a:solidFill>
                <a:latin typeface="Aptos"/>
              </a:defRPr>
            </a:pPr>
            <a:r>
              <a:t>Generalization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999232"/>
            <a:ext cx="7772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Nine families in latest transformer study; one training seed.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75887"/>
            <a:ext cx="10287000" cy="63093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3831335"/>
            <a:ext cx="182880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83452"/>
                </a:solidFill>
                <a:latin typeface="Aptos"/>
              </a:defRPr>
            </a:pPr>
            <a:r>
              <a:t>Model selection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813048"/>
            <a:ext cx="7772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Some comparisons are adaptive development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489704"/>
            <a:ext cx="10287000" cy="630936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4645152"/>
            <a:ext cx="182880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A6413E"/>
                </a:solidFill>
                <a:latin typeface="Aptos"/>
              </a:defRPr>
            </a:pPr>
            <a:r>
              <a:t>External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0672" y="4626864"/>
            <a:ext cx="7772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TCP and DNS entered the latest classical rerun; no untouched project holdout remains.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559552"/>
            <a:ext cx="100584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A6413E"/>
                </a:solidFill>
                <a:latin typeface="Aptos"/>
              </a:defRPr>
            </a:pPr>
            <a:r>
              <a:t>No claim of validated ambiguity accuracy or deployment readiness is supported yet.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6473952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5B6974"/>
                </a:solidFill>
                <a:latin typeface="Aptos"/>
              </a:defRPr>
            </a:pPr>
            <a:r>
              <a:t>Source: paper/main.tex, Threats to Validity.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16  | 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83452"/>
                </a:solidFill>
                <a:latin typeface="Aptos"/>
              </a:defRPr>
            </a:pPr>
            <a:r>
              <a:t>GUI example: RFC 9000 review results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5303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83452"/>
                </a:solidFill>
                <a:latin typeface="Aptos"/>
              </a:defRPr>
            </a:pPr>
            <a:r>
              <a:t>Local scan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19072"/>
            <a:ext cx="1572768" cy="1069848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28800"/>
            <a:ext cx="1426464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700" b="1">
                <a:solidFill>
                  <a:srgbClr val="1C8585"/>
                </a:solidFill>
                <a:latin typeface="Aptos"/>
              </a:defRPr>
            </a:pPr>
            <a:r>
              <a:t>112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86000"/>
            <a:ext cx="142646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6313B"/>
                </a:solidFill>
                <a:latin typeface="Aptos"/>
              </a:defRPr>
            </a:pPr>
            <a:r>
              <a:t>potentially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26313B"/>
                </a:solidFill>
                <a:latin typeface="Aptos"/>
              </a:defRPr>
            </a:pPr>
            <a:r>
              <a:t>ambiguous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78608" y="1719072"/>
            <a:ext cx="1572768" cy="1069848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828800"/>
            <a:ext cx="1426464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700" b="1">
                <a:solidFill>
                  <a:srgbClr val="2D6596"/>
                </a:solidFill>
                <a:latin typeface="Aptos"/>
              </a:defRPr>
            </a:pPr>
            <a:r>
              <a:t>516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286000"/>
            <a:ext cx="142646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6313B"/>
                </a:solidFill>
                <a:latin typeface="Aptos"/>
              </a:defRPr>
            </a:pPr>
            <a:r>
              <a:t>normative clauses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26313B"/>
                </a:solidFill>
                <a:latin typeface="Aptos"/>
              </a:defRPr>
            </a:pPr>
            <a:r>
              <a:t>scored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719072"/>
            <a:ext cx="1572768" cy="1069848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828800"/>
            <a:ext cx="1426464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700" b="1">
                <a:solidFill>
                  <a:srgbClr val="DA8B35"/>
                </a:solidFill>
                <a:latin typeface="Aptos"/>
              </a:defRPr>
            </a:pPr>
            <a:r>
              <a:t>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286000"/>
            <a:ext cx="142646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6313B"/>
                </a:solidFill>
                <a:latin typeface="Aptos"/>
              </a:defRPr>
            </a:pPr>
            <a:r>
              <a:t>sections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26313B"/>
                </a:solidFill>
                <a:latin typeface="Aptos"/>
              </a:defRPr>
            </a:pPr>
            <a:r>
              <a:t>represented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108960"/>
            <a:ext cx="5084064" cy="1417320"/>
          </a:xfrm>
          <a:prstGeom prst="roundRect">
            <a:avLst/>
          </a:prstGeom>
          <a:solidFill>
            <a:srgbClr val="E7F5F3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108960"/>
            <a:ext cx="82296" cy="1417320"/>
          </a:xfrm>
          <a:prstGeom prst="rect">
            <a:avLst/>
          </a:prstGeom>
          <a:solidFill>
            <a:srgbClr val="1C8585"/>
          </a:solidFill>
          <a:ln>
            <a:solidFill>
              <a:srgbClr val="1C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3291840"/>
            <a:ext cx="46908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83452"/>
                </a:solidFill>
                <a:latin typeface="Aptos"/>
              </a:defRPr>
            </a:pPr>
            <a:r>
              <a:t>Example ranked suggestion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" y="3721608"/>
            <a:ext cx="4672583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Line 4727 · Section 14.2.1 · score 0.5433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“The endpoint SHOULD ignore all ICMP messages that fail validation.”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800600"/>
            <a:ext cx="5084064" cy="960120"/>
          </a:xfrm>
          <a:prstGeom prst="roundRect">
            <a:avLst/>
          </a:prstGeom>
          <a:solidFill>
            <a:srgbClr val="FBF2E3"/>
          </a:solidFill>
          <a:ln w="13970">
            <a:solidFill>
              <a:srgbClr val="FBF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965192"/>
            <a:ext cx="4681728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6313B"/>
                </a:solidFill>
                <a:latin typeface="Aptos"/>
              </a:defRPr>
            </a:pPr>
            <a:r>
              <a:t>Scores rank clauses for review; they are not calibrated probabilities or ambiguity verdicts. This capture also had a scikit-learn artifact/runtime version warning.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1152144"/>
            <a:ext cx="4892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C8585"/>
                </a:solidFill>
                <a:latin typeface="Aptos"/>
              </a:defRPr>
            </a:pPr>
            <a:r>
              <a:t>Overview · RFC 9000</a:t>
            </a:r>
          </a:p>
        </p:txBody>
      </p:sp>
      <p:pic>
        <p:nvPicPr>
          <p:cNvPr id="22" name="Picture 21" descr="gui_rfc9000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89888"/>
            <a:ext cx="4800600" cy="222647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720840" y="3730752"/>
            <a:ext cx="4892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C8585"/>
                </a:solidFill>
                <a:latin typeface="Aptos"/>
              </a:defRPr>
            </a:pPr>
            <a:r>
              <a:t>Filtered suggestion · one of 112 flagged clauses</a:t>
            </a:r>
          </a:p>
        </p:txBody>
      </p:sp>
      <p:pic>
        <p:nvPicPr>
          <p:cNvPr id="24" name="Picture 23" descr="gui_rfc9000_filtered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968496"/>
            <a:ext cx="4800600" cy="222647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3504" y="6473952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5B6974"/>
                </a:solidFill>
                <a:latin typeface="Aptos"/>
              </a:defRPr>
            </a:pPr>
            <a:r>
              <a:t>GUI screenshots: local scan of corpus/raw/rfcs/RFC9000.txt; model scores are screening ranks.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17  | 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83452"/>
                </a:solidFill>
                <a:latin typeface="Aptos"/>
              </a:defRPr>
            </a:pPr>
            <a:r>
              <a:t>What evidence would earn a stronger claim?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36192"/>
            <a:ext cx="2514600" cy="3172968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1773936"/>
            <a:ext cx="502920" cy="502920"/>
          </a:xfrm>
          <a:prstGeom prst="ellipse">
            <a:avLst/>
          </a:prstGeom>
          <a:solidFill>
            <a:srgbClr val="2D6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778507"/>
            <a:ext cx="5029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514600"/>
            <a:ext cx="21031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452"/>
                </a:solidFill>
                <a:latin typeface="Aptos"/>
              </a:defRPr>
            </a:pPr>
            <a:r>
              <a:t>Build an expert 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364992"/>
            <a:ext cx="2084831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Stratified sample; independent double annotation and adjudication.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39312" y="1536192"/>
            <a:ext cx="2514600" cy="3172968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40480" y="1773936"/>
            <a:ext cx="502920" cy="502920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778507"/>
            <a:ext cx="5029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514600"/>
            <a:ext cx="21031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452"/>
                </a:solidFill>
                <a:latin typeface="Aptos"/>
              </a:defRPr>
            </a:pPr>
            <a:r>
              <a:t>Stabilize estimates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364992"/>
            <a:ext cx="2084831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Repeat selected transformers across seeds; compare common labels and folds.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55664" y="1536192"/>
            <a:ext cx="2514600" cy="3172968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56832" y="1773936"/>
            <a:ext cx="502920" cy="502920"/>
          </a:xfrm>
          <a:prstGeom prst="ellipse">
            <a:avLst/>
          </a:prstGeom>
          <a:solidFill>
            <a:srgbClr val="DA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1778507"/>
            <a:ext cx="5029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2514600"/>
            <a:ext cx="21031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452"/>
                </a:solidFill>
                <a:latin typeface="Aptos"/>
              </a:defRPr>
            </a:pPr>
            <a:r>
              <a:t>Finish open RQs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3364992"/>
            <a:ext cx="2084831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Implement conditional LLM routing; measure calls, latency, cost, calibration, and explanations.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72016" y="1536192"/>
            <a:ext cx="2514600" cy="3172968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73184" y="1773936"/>
            <a:ext cx="502920" cy="502920"/>
          </a:xfrm>
          <a:prstGeom prst="ellipse">
            <a:avLst/>
          </a:prstGeom>
          <a:solidFill>
            <a:srgbClr val="A64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73184" y="1778507"/>
            <a:ext cx="5029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3184" y="2514600"/>
            <a:ext cx="21031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452"/>
                </a:solidFill>
                <a:latin typeface="Aptos"/>
              </a:defRPr>
            </a:pPr>
            <a:r>
              <a:t>Create a new holdout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3184" y="3364992"/>
            <a:ext cx="2084831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Pre-register unseen families or later time-sliced revisions for one final test.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257800"/>
            <a:ext cx="100126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A6413E"/>
                </a:solidFill>
                <a:latin typeface="Aptos"/>
              </a:defRPr>
            </a:pPr>
            <a:r>
              <a:t>The next evaluation must be genuinely untouched and used once after the model and analysis plan are frozen.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6473952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5B6974"/>
                </a:solidFill>
                <a:latin typeface="Aptos"/>
              </a:defRPr>
            </a:pPr>
            <a:r>
              <a:t>Source: paper/README.md, author action items; results/final_summary/conclusions.md.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18  | 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83452"/>
                </a:solidFill>
                <a:latin typeface="Aptos"/>
              </a:defRPr>
            </a:pPr>
            <a:r>
              <a:t>The contribution is a careful path from draft text to review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TAKE-HOME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1389888"/>
            <a:ext cx="10287000" cy="1097280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618488"/>
            <a:ext cx="960120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183452"/>
                </a:solidFill>
                <a:latin typeface="Aptos"/>
              </a:defRPr>
            </a:pPr>
            <a:r>
              <a:t>A promising research-stage prioritization aid—not an autonomous ambiguity judge.</a:t>
            </a:r>
          </a:p>
        </p:txBody>
      </p:sp>
      <p:sp>
        <p:nvSpPr>
          <p:cNvPr id="7" name="Oval 6"/>
          <p:cNvSpPr/>
          <p:nvPr/>
        </p:nvSpPr>
        <p:spPr>
          <a:xfrm>
            <a:off x="1417320" y="2980944"/>
            <a:ext cx="164592" cy="164592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985516"/>
            <a:ext cx="1645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6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709928" y="2944368"/>
            <a:ext cx="903427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26313B"/>
                </a:solidFill>
                <a:latin typeface="Aptos"/>
              </a:defRPr>
            </a:pPr>
            <a:r>
              <a:t>Revision-aware corpus and explicit temporal information boundaries</a:t>
            </a:r>
          </a:p>
        </p:txBody>
      </p:sp>
      <p:sp>
        <p:nvSpPr>
          <p:cNvPr id="10" name="Oval 9"/>
          <p:cNvSpPr/>
          <p:nvPr/>
        </p:nvSpPr>
        <p:spPr>
          <a:xfrm>
            <a:off x="1417320" y="3739896"/>
            <a:ext cx="164592" cy="164592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3744468"/>
            <a:ext cx="1645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6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709928" y="3703320"/>
            <a:ext cx="903427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26313B"/>
                </a:solidFill>
                <a:latin typeface="Aptos"/>
              </a:defRPr>
            </a:pPr>
            <a:r>
              <a:t>Family-aware evaluation across classical ML, transformers, and local LLM hybrids</a:t>
            </a:r>
          </a:p>
        </p:txBody>
      </p:sp>
      <p:sp>
        <p:nvSpPr>
          <p:cNvPr id="13" name="Oval 12"/>
          <p:cNvSpPr/>
          <p:nvPr/>
        </p:nvSpPr>
        <p:spPr>
          <a:xfrm>
            <a:off x="1417320" y="4498848"/>
            <a:ext cx="164592" cy="164592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4503420"/>
            <a:ext cx="1645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6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709928" y="4462272"/>
            <a:ext cx="903427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26313B"/>
                </a:solidFill>
                <a:latin typeface="Aptos"/>
              </a:defRPr>
            </a:pPr>
            <a:r>
              <a:t>Honest reporting of uncertainty, label limits, and the consumed project holdouts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623560"/>
            <a:ext cx="99669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1C8585"/>
                </a:solidFill>
                <a:latin typeface="Aptos"/>
              </a:defRPr>
            </a:pPr>
            <a:r>
              <a:t>The next milestone is independent evidence—not a more complicated model.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6473952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5B6974"/>
                </a:solidFill>
                <a:latin typeface="Aptos"/>
              </a:defRPr>
            </a:pPr>
            <a:r>
              <a:t>Project status and claim boundary: README.md; paper/main.tex.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19  | 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83452"/>
                </a:solidFill>
                <a:latin typeface="Aptos"/>
              </a:defRPr>
            </a:pPr>
            <a:r>
              <a:t>Discussion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61872"/>
            <a:ext cx="5760720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4200" b="1">
                <a:solidFill>
                  <a:srgbClr val="183452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512064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200" b="0">
                <a:solidFill>
                  <a:srgbClr val="26313B"/>
                </a:solidFill>
                <a:latin typeface="Aptos"/>
              </a:defRPr>
            </a:pPr>
            <a:r>
              <a:t>Where should the boundary sit between automated triage and human judgment?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307592"/>
            <a:ext cx="4800600" cy="3584448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48272" y="1627632"/>
            <a:ext cx="42062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C8585"/>
                </a:solidFill>
                <a:latin typeface="Aptos"/>
              </a:defRPr>
            </a:pPr>
            <a:r>
              <a:t>Selected context</a:t>
            </a:r>
          </a:p>
        </p:txBody>
      </p:sp>
      <p:sp>
        <p:nvSpPr>
          <p:cNvPr id="9" name="Oval 8"/>
          <p:cNvSpPr/>
          <p:nvPr/>
        </p:nvSpPr>
        <p:spPr>
          <a:xfrm>
            <a:off x="6766560" y="2295144"/>
            <a:ext cx="164592" cy="164592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299716"/>
            <a:ext cx="1645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6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059168" y="2258568"/>
            <a:ext cx="3822191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RFC 2119 / RFC 8174 — normative keywords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825496"/>
            <a:ext cx="164592" cy="164592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830068"/>
            <a:ext cx="1645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6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059168" y="2788920"/>
            <a:ext cx="3822191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Davis &amp; Goadrich (2006) — PR curves and ROC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0" y="3355848"/>
            <a:ext cx="164592" cy="164592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3360420"/>
            <a:ext cx="1645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6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059168" y="3319272"/>
            <a:ext cx="3822191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Saito &amp; Rehmsmeier (2015) — PR under imbalance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0" y="3886200"/>
            <a:ext cx="164592" cy="164592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3890772"/>
            <a:ext cx="1645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6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7059168" y="3849624"/>
            <a:ext cx="3822191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Pawagi et al. (2025) — RFCScope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87568"/>
            <a:ext cx="102412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5B6974"/>
                </a:solidFill>
                <a:latin typeface="Aptos"/>
              </a:defRPr>
            </a:pPr>
            <a:r>
              <a:t>Thank you  ·  School of Computing, Queen's University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6473952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  <a:defRPr sz="750" b="0">
                <a:solidFill>
                  <a:srgbClr val="5B6974"/>
                </a:solidFill>
                <a:latin typeface="Aptos"/>
              </a:defRPr>
            </a:pPr>
            <a:r>
              <a:t>Full bibliography and methods: paper/main.tex and paper/references.bib.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20  |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Leakage-Controlled Pre-Publication Ambiguity Detection</dc:title>
  <dc:subject>25-minute academic project presentation</dc:subject>
  <dc:creator>Queen's University School of Computing</dc:creator>
  <cp:keywords>Internet-Drafts, ambiguity detection, ML, leakage control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
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321040" y="914400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918971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5" name="Oval 4"/>
          <p:cNvSpPr/>
          <p:nvPr/>
        </p:nvSpPr>
        <p:spPr>
          <a:xfrm>
            <a:off x="9692640" y="1554480"/>
            <a:ext cx="219456" cy="219456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0" y="1559051"/>
            <a:ext cx="219456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7" name="Oval 6"/>
          <p:cNvSpPr/>
          <p:nvPr/>
        </p:nvSpPr>
        <p:spPr>
          <a:xfrm>
            <a:off x="10881360" y="841248"/>
            <a:ext cx="146304" cy="146304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845820"/>
            <a:ext cx="14630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9" name="Oval 8"/>
          <p:cNvSpPr/>
          <p:nvPr/>
        </p:nvSpPr>
        <p:spPr>
          <a:xfrm>
            <a:off x="8778240" y="2834640"/>
            <a:ext cx="201168" cy="20116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2839212"/>
            <a:ext cx="20116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0195560" y="3474720"/>
            <a:ext cx="182880" cy="18288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95560" y="3479291"/>
            <a:ext cx="18288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Oval 12"/>
          <p:cNvSpPr/>
          <p:nvPr/>
        </p:nvSpPr>
        <p:spPr>
          <a:xfrm>
            <a:off x="11155680" y="5029200"/>
            <a:ext cx="201168" cy="20116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0" y="5033772"/>
            <a:ext cx="20116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8549640" y="5349240"/>
            <a:ext cx="128016" cy="128016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5353812"/>
            <a:ext cx="12801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cxnSp>
        <p:nvCxnSpPr>
          <p:cNvPr id="17" name="Connector 16"/>
          <p:cNvCxnSpPr/>
          <p:nvPr/>
        </p:nvCxnSpPr>
        <p:spPr>
          <a:xfrm>
            <a:off x="8485632" y="1078992"/>
            <a:ext cx="1298448" cy="585216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893808" y="950976"/>
            <a:ext cx="1060704" cy="786384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412480" y="1097280"/>
            <a:ext cx="475488" cy="1828800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42832" y="2926080"/>
            <a:ext cx="1335024" cy="640080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78440" y="3611880"/>
            <a:ext cx="850392" cy="1527048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8613648" y="2926080"/>
            <a:ext cx="301752" cy="2487168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822960"/>
            <a:ext cx="65836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C8585"/>
                </a:solidFill>
                <a:latin typeface="Aptos"/>
              </a:defRPr>
            </a:pPr>
            <a:r>
              <a:t>RESEARCH PRESENTATION  |  25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417320"/>
            <a:ext cx="6675120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3500" b="1">
                <a:solidFill>
                  <a:srgbClr val="183452"/>
                </a:solidFill>
                <a:latin typeface="Aptos"/>
              </a:defRPr>
            </a:pPr>
            <a:r>
              <a:t>Finding ambiguity</a:t>
            </a:r>
          </a:p>
          <a:p>
            <a:pPr algn="l">
              <a:spcAft>
                <a:spcPts val="500"/>
              </a:spcAft>
              <a:defRPr sz="3500" b="1">
                <a:solidFill>
                  <a:srgbClr val="183452"/>
                </a:solidFill>
                <a:latin typeface="Aptos"/>
              </a:defRPr>
            </a:pPr>
            <a:r>
              <a:t>before publication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200400"/>
            <a:ext cx="64008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Leakage-controlled, model-assisted prioritization of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IETF Internet-Draft clauses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6537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83452"/>
                </a:solidFill>
                <a:latin typeface="Aptos"/>
              </a:defRPr>
            </a:pPr>
            <a:r>
              <a:t>Mostafa Elofy  ·  Mohamed Ghanem  ·  Mohamed Abdelkhalek  ·  Osama Elkhuribi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03520"/>
            <a:ext cx="61264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5B6974"/>
                </a:solidFill>
                <a:latin typeface="Aptos"/>
              </a:defRPr>
            </a:pPr>
            <a:r>
              <a:t>School of Computing, Queen's University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190488"/>
            <a:ext cx="61264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1">
                <a:solidFill>
                  <a:srgbClr val="A6413E"/>
                </a:solidFill>
                <a:latin typeface="Aptos"/>
              </a:defRPr>
            </a:pPr>
            <a:r>
              <a:t>Research-stage evidence — not a validated production detector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01  | 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One sentence can lead to different implementations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02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70432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900" b="0">
                <a:solidFill>
                  <a:srgbClr val="26313B"/>
                </a:solidFill>
                <a:latin typeface="Aptos"/>
              </a:defRPr>
            </a:pPr>
            <a:r>
              <a:t>Normative keywords are precise; the surrounding prose can still leave room for interpretation.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965960"/>
            <a:ext cx="5486400" cy="960120"/>
          </a:xfrm>
          <a:prstGeom prst="roundRect">
            <a:avLst/>
          </a:prstGeom>
          <a:solidFill>
            <a:srgbClr val="E7F0F7"/>
          </a:solidFill>
          <a:ln w="21590"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39696"/>
            <a:ext cx="502920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183452"/>
                </a:solidFill>
                <a:latin typeface="Aptos"/>
              </a:defRPr>
            </a:pPr>
            <a:r>
              <a:t>“A receiver SHOULD retry when appropriate.”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926080"/>
            <a:ext cx="0" cy="320040"/>
          </a:xfrm>
          <a:prstGeom prst="line">
            <a:avLst/>
          </a:prstGeom>
          <a:ln w="1905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14600" y="3246120"/>
            <a:ext cx="7132320" cy="0"/>
          </a:xfrm>
          <a:prstGeom prst="line">
            <a:avLst/>
          </a:prstGeom>
          <a:ln w="1905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51460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69848" y="3547872"/>
            <a:ext cx="2889504" cy="1335024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immediately;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stop after one failure.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36008" y="3547872"/>
            <a:ext cx="2889504" cy="1335024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with backoff;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continue until a limit.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4692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02168" y="3547872"/>
            <a:ext cx="2889504" cy="1335024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A64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only for selected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error classes.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49240"/>
            <a:ext cx="10149840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183452"/>
                </a:solidFill>
                <a:latin typeface="Aptos"/>
              </a:defRPr>
            </a:pPr>
            <a:r>
              <a:t>The goal is not to declare a clause defective. It is to help a human reviewer decide where to look first.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Illustrative example; not a quoted clause from the corpus.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02  | 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research question is about prioritization—not verdicts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03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71600"/>
            <a:ext cx="10424160" cy="130759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969264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183452"/>
                </a:solidFill>
                <a:latin typeface="Aptos"/>
              </a:defRPr>
            </a:pPr>
            <a:r>
              <a:t>Can we rank draft clauses likely to be operationally ambiguous using only information available at that draft stage?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46120"/>
            <a:ext cx="3246120" cy="15727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46120"/>
            <a:ext cx="82296" cy="1572768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A clause as it appeared in an Internet-Draft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246120"/>
            <a:ext cx="3246120" cy="1572768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3246120"/>
            <a:ext cx="82296" cy="1572768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A ranked queue for human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246120"/>
            <a:ext cx="3246120" cy="1572768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246120"/>
            <a:ext cx="82296" cy="1572768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No automatic judgment of correctness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99669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26313B"/>
                </a:solidFill>
                <a:latin typeface="Aptos"/>
              </a:defRPr>
            </a:pPr>
            <a:r>
              <a:t>Success means useful review allocation under a defensible evaluation—not “AI understands standards.”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Project framing: paper/main.tex, Introduction and Conclusion.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03  | 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Three traps can make an ambiguity detector look better than it 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PROBLEM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04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3429000" cy="2999232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82296" cy="2999232"/>
          </a:xfrm>
          <a:prstGeom prst="rect">
            <a:avLst/>
          </a:prstGeom>
          <a:solidFill>
            <a:srgbClr val="A6413E"/>
          </a:solidFill>
          <a:ln>
            <a:solidFill>
              <a:srgbClr val="A64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1  Future-information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Later revisions, final RFCs, and errata can explain what became problematic—but they were not available at draft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429000" cy="29992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417320"/>
            <a:ext cx="82296" cy="2999232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2  Repeated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Related clauses recur across a document's revision lineage. Random clause splits can place near-duplicates in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17320"/>
            <a:ext cx="3429000" cy="299923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417320"/>
            <a:ext cx="82296" cy="2999232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3  Rare, uncertain positives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The latest DeBERTa cohort is 6.4% positive. Operational labels are AI-assisted and not expert-adjudicated gold.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83452"/>
                </a:solidFill>
                <a:latin typeface="Aptos"/>
              </a:defRPr>
            </a:pPr>
            <a:r>
              <a:t>So the central engineering problem is as much about information boundaries and evaluation design as model choice.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Introduction; latest DeBERTa cohort.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04  | 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project connects a corpus to several distinct studies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05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253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Internet-Draft revisions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RFCs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7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verified technical errata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2880360"/>
            <a:ext cx="10012680" cy="6583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302666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D6596"/>
                </a:solidFill>
                <a:latin typeface="Aptos"/>
              </a:defRPr>
            </a:pPr>
            <a:r>
              <a:t>CLASSICAL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9008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2,406 clauses · 11 families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1752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158 positives · prevalence 6.57%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703320"/>
            <a:ext cx="10012680" cy="658368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84962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DA8B35"/>
                </a:solidFill>
                <a:latin typeface="Aptos"/>
              </a:defRPr>
            </a:pPr>
            <a:r>
              <a:t>QWEN / HYBRID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81304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2,142 clauses · 9 families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84048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126 positives · prevalence 5.88%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4526280"/>
            <a:ext cx="10012680" cy="6583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467258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1C8585"/>
                </a:solidFill>
                <a:latin typeface="Aptos"/>
              </a:defRPr>
            </a:pPr>
            <a:r>
              <a:t>LATEST DEBERTA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63600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2,143 clauses · 9 families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66344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138 positives · prevalence 6.44%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14416"/>
            <a:ext cx="10012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Different label snapshots and eligibility rules: only the three latest DeBERTa methods share one cohort.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paper/main.tex; study-specific cohorts and label snapshots.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05  | 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pipeline makes the information boundary explicit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06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581912"/>
            <a:ext cx="384048" cy="38404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Public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Drafts · RFCs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errata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6272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9464" y="1581912"/>
            <a:ext cx="384048" cy="384048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4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9424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9424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Documents →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clauses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9624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42816" y="1581912"/>
            <a:ext cx="384048" cy="38404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2776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Track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2776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Revision alignment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&amp; lineage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22976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16168" y="1581912"/>
            <a:ext cx="384048" cy="384048"/>
          </a:xfrm>
          <a:prstGeom prst="ellipse">
            <a:avLst/>
          </a:prstGeom>
          <a:solidFill>
            <a:srgbClr val="A64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16168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96128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Label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8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AI-assisted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operational reference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96328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0" y="1581912"/>
            <a:ext cx="384048" cy="38404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Rules · ML ·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LLM · transformer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2872" y="1581912"/>
            <a:ext cx="384048" cy="384048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2872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Family-grouped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43032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36224" y="1581912"/>
            <a:ext cx="384048" cy="38404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36224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6184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Prioritize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6184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Ranked human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review queue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315968"/>
            <a:ext cx="10561320" cy="749808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FAE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0704" y="4471416"/>
            <a:ext cx="10104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Prediction-time boundary: no later draft, final RFC, erratum, label, vote, rationale, or split metadata as model input.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5422392"/>
            <a:ext cx="9966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Reserved TCP transfer validation and sealed DNS final testing remain unopened.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paper/figures/project_pipeline.png and paper/main.tex.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06  | 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label is an operational reference—not a definition of truth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07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25880"/>
            <a:ext cx="4937760" cy="345643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What the project has</a:t>
            </a:r>
          </a:p>
        </p:txBody>
      </p:sp>
      <p:sp>
        <p:nvSpPr>
          <p:cNvPr id="8" name="Oval 7"/>
          <p:cNvSpPr/>
          <p:nvPr/>
        </p:nvSpPr>
        <p:spPr>
          <a:xfrm>
            <a:off x="1234440" y="23225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3271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527048" y="2286000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 repeatable annotation workflow</a:t>
            </a:r>
          </a:p>
        </p:txBody>
      </p:sp>
      <p:sp>
        <p:nvSpPr>
          <p:cNvPr id="11" name="Oval 10"/>
          <p:cNvSpPr/>
          <p:nvPr/>
        </p:nvSpPr>
        <p:spPr>
          <a:xfrm>
            <a:off x="123444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98551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527048" y="2944368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Provenance and consensus rules</a:t>
            </a:r>
          </a:p>
        </p:txBody>
      </p:sp>
      <p:sp>
        <p:nvSpPr>
          <p:cNvPr id="14" name="Oval 13"/>
          <p:cNvSpPr/>
          <p:nvPr/>
        </p:nvSpPr>
        <p:spPr>
          <a:xfrm>
            <a:off x="1234440" y="3639312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643884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527048" y="3602736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AI-assisted reference labels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325880"/>
            <a:ext cx="4937760" cy="34564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FB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1627632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What remains missing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23225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3271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13448" y="2286000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Independent expert double annotation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72084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8551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7013448" y="2944368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Adjudication against the full rubric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3639312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3643884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7013448" y="3602736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 public, sealed gold test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230368"/>
            <a:ext cx="9966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A6413E"/>
                </a:solidFill>
                <a:latin typeface="Aptos"/>
              </a:defRPr>
            </a:pPr>
            <a:r>
              <a:t>Therefore, model scores measure agreement with this operational reference—not ambiguity accuracy.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Construct Validity and Annotation sections.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07  | 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project tests multiple model families—not one magic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08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4983480" cy="1600200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82296" cy="1600200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50876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Transparent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93852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Hand-set lexical and structural cues; an interpretable low-cost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4983480" cy="160020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82296" cy="1600200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50876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Classical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193852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Logistic regression / SVM; engineered clause features + TF–IDF.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46120"/>
            <a:ext cx="4983480" cy="160020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82296" cy="1600200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42900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Transformers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385876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DeBERTa-v3-base; target-only fine-tuning and rank-based combinations.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246120"/>
            <a:ext cx="4983480" cy="160020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246120"/>
            <a:ext cx="82296" cy="1600200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42900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Local LLM &amp; hybrid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85876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Qwen prompting plus lexical / MiniLM semantic signals in separate studies.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104241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Revision-only signals and frozen embeddings were also examined; the tested versions were not consistently stronger.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paper/main.tex; results/final_summary/conclusions.md.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08  | 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Evaluation is grouped to test transfer across protocol families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09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61872"/>
            <a:ext cx="4754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C8585"/>
                </a:solidFill>
                <a:latin typeface="Aptos"/>
              </a:defRPr>
            </a:pPr>
            <a:r>
              <a:t>WHAT THE DESIGN PROTECTS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79222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9679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207008" y="1755648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Keep related clauses from the same family together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57860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83179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207008" y="2542032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Fit preprocessing and feature selection inside training folds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364991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9563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207008" y="3328415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Use average precision (AP) under class imbalance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513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559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207008" y="4114800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Report fixed review-budget retrieval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371600"/>
            <a:ext cx="5074920" cy="342900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691640"/>
            <a:ext cx="4434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Latest DeBERTa study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2350008"/>
            <a:ext cx="1920240" cy="14173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496312"/>
            <a:ext cx="17373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1C8585"/>
                </a:solidFill>
                <a:latin typeface="Aptos"/>
              </a:defRPr>
            </a:pPr>
            <a:r>
              <a:t>5-fold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099815"/>
            <a:ext cx="1700784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family-isolated OOF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9408" y="2350008"/>
            <a:ext cx="1920240" cy="14173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2496312"/>
            <a:ext cx="17373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DA8B35"/>
                </a:solidFill>
                <a:latin typeface="Aptos"/>
              </a:defRPr>
            </a:pPr>
            <a:r>
              <a:t>1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099815"/>
            <a:ext cx="1700784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run-to-run uncertainty remains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142232"/>
            <a:ext cx="4526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Development evaluation—not a sealed test.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440680"/>
            <a:ext cx="100584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183452"/>
                </a:solidFill>
                <a:latin typeface="Aptos"/>
              </a:defRPr>
            </a:pPr>
            <a:r>
              <a:t>No single score answers whether the system transfers to a new protocol family.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Evaluation Design and Results.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09  | 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Classical text features give the strongest result in their own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CLASSICAL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10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55778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5B6974"/>
                </a:solidFill>
                <a:latin typeface="Aptos"/>
              </a:defRPr>
            </a:pPr>
            <a:r>
              <a:t>2,406 clauses  ·  158 positives  ·  11 families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73254" y="1929384"/>
            <a:ext cx="0" cy="2633472"/>
          </a:xfrm>
          <a:prstGeom prst="line">
            <a:avLst/>
          </a:prstGeom>
          <a:ln w="15240">
            <a:solidFill>
              <a:srgbClr val="A64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09830" y="171907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A6413E"/>
                </a:solidFill>
                <a:latin typeface="Aptos"/>
              </a:defRPr>
            </a:pPr>
            <a:r>
              <a:t>base 0.066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02536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Logistic: engineered + TF–IDF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039112"/>
            <a:ext cx="3418555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4251" y="201167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0.5225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70048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Linear SVM: engineered + TF–IDF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06624"/>
            <a:ext cx="3342660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8356" y="2679191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0.5109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37560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Fixed engineered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374136"/>
            <a:ext cx="686328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024" y="3346703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0.1049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05072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Positive prevalence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4041648"/>
            <a:ext cx="429854" cy="310896"/>
          </a:xfrm>
          <a:prstGeom prst="rect">
            <a:avLst/>
          </a:prstGeom>
          <a:solidFill>
            <a:srgbClr val="5B6974"/>
          </a:solidFill>
          <a:ln>
            <a:solidFill>
              <a:srgbClr val="5B69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55550" y="4014215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0.0657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828800"/>
            <a:ext cx="2331720" cy="260604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103120"/>
            <a:ext cx="19202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C8585"/>
                </a:solidFill>
                <a:latin typeface="Aptos"/>
              </a:defRPr>
            </a:pPr>
            <a:r>
              <a:t>Key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697480"/>
            <a:ext cx="1965960" cy="1325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Word-level patterns plus engineered features ranked positives above simple rules.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257800"/>
            <a:ext cx="101498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A6413E"/>
                </a:solidFill>
                <a:latin typeface="Aptos"/>
              </a:defRPr>
            </a:pPr>
            <a:r>
              <a:t>This is not directly comparable with the transformer or Qwen cohorts: labels and eligibility differ.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Table classical; matched 3-fold family-grouped OOF.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10  | 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Latest DeBERTa comparison: promising ranking, wide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11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70432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5B6974"/>
                </a:solidFill>
                <a:latin typeface="Aptos"/>
              </a:defRPr>
            </a:pPr>
            <a:r>
              <a:t>2,143 clauses  ·  138 positives  ·  9 families  ·  5-fold family-isolated OOF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97459" y="1975104"/>
            <a:ext cx="0" cy="2523744"/>
          </a:xfrm>
          <a:prstGeom prst="line">
            <a:avLst/>
          </a:prstGeom>
          <a:ln w="15240">
            <a:solidFill>
              <a:srgbClr val="A64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34035" y="176479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A6413E"/>
                </a:solidFill>
                <a:latin typeface="Aptos"/>
              </a:defRPr>
            </a:pPr>
            <a:r>
              <a:t>base 0.064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04825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Equal-weight ECDF ensemble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084832"/>
            <a:ext cx="2956511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3607" y="205740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0.6736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8833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Focal loss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24912"/>
            <a:ext cx="2555784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2880" y="269748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0.5823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2841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Partial fine-tuning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364992"/>
            <a:ext cx="2528572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5668" y="333756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0.5761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6849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Prevalence 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4005072"/>
            <a:ext cx="282659" cy="310896"/>
          </a:xfrm>
          <a:prstGeom prst="rect">
            <a:avLst/>
          </a:prstGeom>
          <a:solidFill>
            <a:srgbClr val="5B6974"/>
          </a:solidFill>
          <a:ln>
            <a:solidFill>
              <a:srgbClr val="5B69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9755" y="397763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0.0644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1828800"/>
            <a:ext cx="2926080" cy="246888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E7F5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2084831"/>
            <a:ext cx="2331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000" b="1">
                <a:solidFill>
                  <a:srgbClr val="1C8585"/>
                </a:solidFill>
                <a:latin typeface="Aptos"/>
              </a:defRPr>
            </a:pPr>
            <a:r>
              <a:t>46 / 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688336"/>
            <a:ext cx="23317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operational positives among the top 50 ranked clauses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3749039"/>
            <a:ext cx="248716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5B6974"/>
                </a:solidFill>
                <a:latin typeface="Aptos"/>
              </a:defRPr>
            </a:pPr>
            <a:r>
              <a:t>Ensemble AP family interval: 0.592–0.764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92040"/>
            <a:ext cx="1014984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A6413E"/>
                </a:solidFill>
                <a:latin typeface="Aptos"/>
              </a:defRPr>
            </a:pPr>
            <a:r>
              <a:t>The ECDF ensemble is a ranking score, not a calibrated probability. Intervals overlap across nine families; the 100 labels were error-selected, and this repair reuses parent predictions—not an independent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updated reviewed-label DeBERTa outputs; paper/main.tex. OOF development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11  | 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three-model hybrid adds only a small AP increment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HYBRID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12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105156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5B6974"/>
                </a:solidFill>
                <a:latin typeface="Aptos"/>
              </a:defRPr>
            </a:pPr>
            <a:r>
              <a:t>Label-compatible subset: 2,097 clauses  ·  116 positives  ·  equal-weight average of within-cohort percentile ranks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65376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ML logistic regression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901952"/>
            <a:ext cx="3427524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0260" y="187451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V4 semantic ensemble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2441448"/>
            <a:ext cx="2531430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166" y="2414015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0.3373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44368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DeBERTa-v3-base 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39" y="2980944"/>
            <a:ext cx="1889003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91739" y="2953511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0.2517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83864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V4 + 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39" y="3520440"/>
            <a:ext cx="3438782" cy="310896"/>
          </a:xfrm>
          <a:prstGeom prst="rect">
            <a:avLst/>
          </a:prstGeom>
          <a:solidFill>
            <a:srgbClr val="7099BF"/>
          </a:solidFill>
          <a:ln>
            <a:solidFill>
              <a:srgbClr val="709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1518" y="3493008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V4 + DeBERTa + 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39" y="4059935"/>
            <a:ext cx="3466550" cy="310896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9286" y="4032503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0.4619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828800"/>
            <a:ext cx="2926080" cy="25420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FB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2103120"/>
            <a:ext cx="2468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DA8B35"/>
                </a:solidFill>
                <a:latin typeface="Aptos"/>
              </a:defRPr>
            </a:pPr>
            <a:r>
              <a:t>+0.0052 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724912"/>
            <a:ext cx="23774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vs. ML alone on this subset. A modest exploratory difference—not evidence of a reliable gain.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92040"/>
            <a:ext cx="1019556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A6413E"/>
                </a:solidFill>
                <a:latin typeface="Aptos"/>
              </a:defRPr>
            </a:pPr>
            <a:r>
              <a:t>Caveat: the ML artifact used earlier labels (17 rows missing; 28 conflicts excluded). V4/hybrid design were developed on this cohort.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README.md and models/hybrid/README.md. Not independent-test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12  | 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What can we responsibly conclude from the model studies?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13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417320"/>
            <a:ext cx="3474720" cy="32461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417320"/>
            <a:ext cx="82296" cy="3246120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1  There is ranking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Text and engineered features can prioritize some operationally labeled clauses above prevalence.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17320"/>
            <a:ext cx="3474720" cy="324612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417320"/>
            <a:ext cx="82296" cy="3246120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2  Complexity is not a guarantee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The tested embeddings and revision-only features were not consistently stronger; hybrid gains are small.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1417320"/>
            <a:ext cx="3474720" cy="3246120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36992" y="1417320"/>
            <a:ext cx="82296" cy="3246120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3  Cohorts matter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Scores answer different questions when labels, candidate rules, and protocols differ.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103327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83452"/>
                </a:solidFill>
                <a:latin typeface="Aptos"/>
              </a:defRPr>
            </a:pPr>
            <a:r>
              <a:t>A useful result is a disciplined shortlist—not a claim that ambiguity has been solved.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results/final_summary/conclusions.md; project studies remain cohort-specific.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13  | 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main limitations are scientific—not just engineering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VALIDITY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14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34440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389888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Construct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371600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AI-assisted labels; no independent adjudicated expert gold.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48256"/>
            <a:ext cx="10287000" cy="6309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203704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Sampling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185416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Enriched candidates; scores do not represent every IETF clause.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62072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017520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2999232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Nine families in latest transformer study; one training seed.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75887"/>
            <a:ext cx="10287000" cy="6309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831335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Model 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813048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Some comparisons are adaptive development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89704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645152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External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4626864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Reserved TCP and sealed DNS have not been evaluated.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559552"/>
            <a:ext cx="100584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A6413E"/>
                </a:solidFill>
                <a:latin typeface="Aptos"/>
              </a:defRPr>
            </a:pPr>
            <a:r>
              <a:t>No claim of validated ambiguity accuracy or deployment readiness is supported yet.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Threats to Validity.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14  | 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GUI example: RFC 9000 review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15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5303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83452"/>
                </a:solidFill>
                <a:latin typeface="Aptos"/>
              </a:defRPr>
            </a:pPr>
            <a:r>
              <a:t>Local scan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19072"/>
            <a:ext cx="1572768" cy="1069848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28800"/>
            <a:ext cx="1426464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1C8585"/>
                </a:solidFill>
                <a:latin typeface="Aptos"/>
              </a:defRPr>
            </a:pPr>
            <a:r>
              <a:t>112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6313B"/>
                </a:solidFill>
                <a:latin typeface="Aptos"/>
              </a:defRPr>
            </a:pPr>
            <a:r>
              <a:t>potentially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26313B"/>
                </a:solidFill>
                <a:latin typeface="Aptos"/>
              </a:defRPr>
            </a:pPr>
            <a:r>
              <a:t>ambiguous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719072"/>
            <a:ext cx="1572768" cy="1069848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828800"/>
            <a:ext cx="1426464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2D6596"/>
                </a:solidFill>
                <a:latin typeface="Aptos"/>
              </a:defRPr>
            </a:pPr>
            <a:r>
              <a:t>516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286000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6313B"/>
                </a:solidFill>
                <a:latin typeface="Aptos"/>
              </a:defRPr>
            </a:pPr>
            <a:r>
              <a:t>normative clauses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26313B"/>
                </a:solidFill>
                <a:latin typeface="Aptos"/>
              </a:defRPr>
            </a:pPr>
            <a:r>
              <a:t>scored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19072"/>
            <a:ext cx="1572768" cy="1069848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828800"/>
            <a:ext cx="1426464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DA8B35"/>
                </a:solidFill>
                <a:latin typeface="Aptos"/>
              </a:defRPr>
            </a:pPr>
            <a:r>
              <a:t>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286000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6313B"/>
                </a:solidFill>
                <a:latin typeface="Aptos"/>
              </a:defRPr>
            </a:pPr>
            <a:r>
              <a:t>sections</a:t>
            </a:r>
          </a:p>
          <a:p>
            <a:pPr algn="ctr">
              <a:spcAft>
                <a:spcPts val="500"/>
              </a:spcAft>
              <a:defRPr sz="1100" b="0">
                <a:solidFill>
                  <a:srgbClr val="26313B"/>
                </a:solidFill>
                <a:latin typeface="Aptos"/>
              </a:defRPr>
            </a:pPr>
            <a:r>
              <a:t>represented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108960"/>
            <a:ext cx="5084064" cy="141732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108960"/>
            <a:ext cx="82296" cy="1417320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291840"/>
            <a:ext cx="469087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Example ranked suggestion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3721608"/>
            <a:ext cx="4672583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Line 4727 · Section 14.2.1 · score 0.5433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“The endpoint SHOULD ignore all ICMP messages that fail validation.”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00600"/>
            <a:ext cx="5084064" cy="960120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FB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65192"/>
            <a:ext cx="4681728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6313B"/>
                </a:solidFill>
                <a:latin typeface="Aptos"/>
              </a:defRPr>
            </a:pPr>
            <a:r>
              <a:t>Scores rank clauses for review; they are not calibrated probabilities or ambiguity verdicts. This capture also had a scikit-learn artifact/runtime version warning.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152144"/>
            <a:ext cx="4892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1">
                <a:solidFill>
                  <a:srgbClr val="1C8585"/>
                </a:solidFill>
                <a:latin typeface="Aptos"/>
              </a:defRPr>
            </a:pPr>
            <a:r>
              <a:t>Overview · RFC 9000</a:t>
            </a:r>
          </a:p>
        </p:txBody>
      </p:sp>
      <p:pic>
        <p:nvPicPr>
          <p:cNvPr id="23" name="Picture 22" descr="gui_rfc9000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89888"/>
            <a:ext cx="4800600" cy="222647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20840" y="3730752"/>
            <a:ext cx="4892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1">
                <a:solidFill>
                  <a:srgbClr val="1C8585"/>
                </a:solidFill>
                <a:latin typeface="Aptos"/>
              </a:defRPr>
            </a:pPr>
            <a:r>
              <a:t>Filtered suggestion · one of 112 flagged clauses</a:t>
            </a:r>
          </a:p>
        </p:txBody>
      </p:sp>
      <p:pic>
        <p:nvPicPr>
          <p:cNvPr id="25" name="Picture 24" descr="gui_rfc9000_filtered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968496"/>
            <a:ext cx="4800600" cy="222647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GUI screenshots: local scan of corpus/raw/rfcs/RFC9000.txt; model scores are screening ranks.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15  | 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What evidence would earn a stronger claim?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16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773936"/>
            <a:ext cx="502920" cy="502920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Build an expert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Stratified sample; independent double annotation and adjudication.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40480" y="1773936"/>
            <a:ext cx="502920" cy="50292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Freeze the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Retrain classical and Qwen/hybrid on common labels and folds; repeat finalists across seeds.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56832" y="1773936"/>
            <a:ext cx="502920" cy="502920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Lock the 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2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Pre-specify model, threshold, code snapshot, and analysis plan.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73184" y="1773936"/>
            <a:ext cx="502920" cy="502920"/>
          </a:xfrm>
          <a:prstGeom prst="ellipse">
            <a:avLst/>
          </a:prstGeom>
          <a:solidFill>
            <a:srgbClr val="A64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Test transfer once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3184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Evaluate reserved TCP; then open DNS only after the decision rule is fixed.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257800"/>
            <a:ext cx="100126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A6413E"/>
                </a:solidFill>
                <a:latin typeface="Aptos"/>
              </a:defRPr>
            </a:pPr>
            <a:r>
              <a:t>Do not spend the sealed test set to tune the system. Keep it a final transfer check.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paper/README.md, author action items; results/final_summary/conclusions.md.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16  | 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contribution is a careful path from draft text to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TAKE-HOME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17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389888"/>
            <a:ext cx="10287000" cy="109728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618488"/>
            <a:ext cx="9601200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183452"/>
                </a:solidFill>
                <a:latin typeface="Aptos"/>
              </a:defRPr>
            </a:pPr>
            <a:r>
              <a:t>A promising research-stage prioritization aid—not an autonomous ambiguity judge.</a:t>
            </a:r>
          </a:p>
        </p:txBody>
      </p:sp>
      <p:sp>
        <p:nvSpPr>
          <p:cNvPr id="8" name="Oval 7"/>
          <p:cNvSpPr/>
          <p:nvPr/>
        </p:nvSpPr>
        <p:spPr>
          <a:xfrm>
            <a:off x="141732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985516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709928" y="2944368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Revision-aware corpus and explicit temporal information boundaries</a:t>
            </a:r>
          </a:p>
        </p:txBody>
      </p:sp>
      <p:sp>
        <p:nvSpPr>
          <p:cNvPr id="11" name="Oval 10"/>
          <p:cNvSpPr/>
          <p:nvPr/>
        </p:nvSpPr>
        <p:spPr>
          <a:xfrm>
            <a:off x="1417320" y="37398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7444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709928" y="3703320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Family-aware evaluation across classical ML, transformers, and local LLM hybrids</a:t>
            </a:r>
          </a:p>
        </p:txBody>
      </p:sp>
      <p:sp>
        <p:nvSpPr>
          <p:cNvPr id="14" name="Oval 13"/>
          <p:cNvSpPr/>
          <p:nvPr/>
        </p:nvSpPr>
        <p:spPr>
          <a:xfrm>
            <a:off x="1417320" y="449884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503420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709928" y="4462272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Honest reporting of uncertainty, label limits, and unopened external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623560"/>
            <a:ext cx="99669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C8585"/>
                </a:solidFill>
                <a:latin typeface="Aptos"/>
              </a:defRPr>
            </a:pPr>
            <a:r>
              <a:t>The next milestone is independent evidence—not a more complicated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Project status and claim boundary: README.md; paper/main.tex.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17  | 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18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61872"/>
            <a:ext cx="576072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4200" b="1">
                <a:solidFill>
                  <a:srgbClr val="183452"/>
                </a:solidFill>
                <a:latin typeface="Aptos"/>
              </a:defRPr>
            </a:pPr>
            <a: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512064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Where should the boundary sit between automated triage and human judgment?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307592"/>
            <a:ext cx="4800600" cy="358444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627632"/>
            <a:ext cx="42062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1C8585"/>
                </a:solidFill>
                <a:latin typeface="Aptos"/>
              </a:defRPr>
            </a:pPr>
            <a:r>
              <a:t>Selected context</a:t>
            </a:r>
          </a:p>
        </p:txBody>
      </p:sp>
      <p:sp>
        <p:nvSpPr>
          <p:cNvPr id="10" name="Oval 9"/>
          <p:cNvSpPr/>
          <p:nvPr/>
        </p:nvSpPr>
        <p:spPr>
          <a:xfrm>
            <a:off x="6766560" y="22951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299716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059168" y="2258568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RFC 2119 / RFC 8174 — normative keywords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28254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8300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059168" y="2788920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Davis &amp; Goadrich (2006) — PR curves and ROC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35584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360420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059168" y="3319272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Saito &amp; Rehmsmeier (2015) — PR under imbalance</a:t>
            </a:r>
          </a:p>
        </p:txBody>
      </p:sp>
      <p:sp>
        <p:nvSpPr>
          <p:cNvPr id="19" name="Oval 18"/>
          <p:cNvSpPr/>
          <p:nvPr/>
        </p:nvSpPr>
        <p:spPr>
          <a:xfrm>
            <a:off x="6766560" y="3886200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890772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59168" y="3849624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Pawagi et al. (2025) — RFCScope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87568"/>
            <a:ext cx="10241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5B6974"/>
                </a:solidFill>
                <a:latin typeface="Aptos"/>
              </a:defRPr>
            </a:pPr>
            <a:r>
              <a:t>Thank you  ·  School of Computing, Queen's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Full bibliography and methods: paper/main.tex and paper/references.bib.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18  |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Leakage-Controlled Pre-Publication Ambiguity Detection</dc:title>
  <dc:subject>25-minute academic project presentation</dc:subject>
  <dc:creator>Queen's University School of Computing</dc:creator>
  <cp:keywords>Internet-Drafts, ambiguity detection, ML, leakage control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
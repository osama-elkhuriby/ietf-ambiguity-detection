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914400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0" y="918971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9692640" y="1554480"/>
            <a:ext cx="219456" cy="219456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559051"/>
            <a:ext cx="219456" cy="210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10881360" y="841248"/>
            <a:ext cx="146304" cy="146304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845820"/>
            <a:ext cx="14630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8778240" y="2834640"/>
            <a:ext cx="201168" cy="201168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839212"/>
            <a:ext cx="20116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10195560" y="3474720"/>
            <a:ext cx="182880" cy="182880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3479291"/>
            <a:ext cx="1828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3" name="Oval 12"/>
          <p:cNvSpPr/>
          <p:nvPr/>
        </p:nvSpPr>
        <p:spPr>
          <a:xfrm>
            <a:off x="11155680" y="5029200"/>
            <a:ext cx="201168" cy="201168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5033772"/>
            <a:ext cx="201168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8549640" y="5349240"/>
            <a:ext cx="128016" cy="128016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5353812"/>
            <a:ext cx="12801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</a:p>
        </p:txBody>
      </p:sp>
      <p:cxnSp>
        <p:nvCxnSpPr>
          <p:cNvPr id="17" name="Connector 16"/>
          <p:cNvCxnSpPr/>
          <p:nvPr/>
        </p:nvCxnSpPr>
        <p:spPr>
          <a:xfrm>
            <a:off x="8485632" y="1078992"/>
            <a:ext cx="1298448" cy="585216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893808" y="950976"/>
            <a:ext cx="1060704" cy="786384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12480" y="1097280"/>
            <a:ext cx="475488" cy="1828800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42832" y="2926080"/>
            <a:ext cx="1335024" cy="640080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78440" y="3611880"/>
            <a:ext cx="850392" cy="1527048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613648" y="2926080"/>
            <a:ext cx="301752" cy="2487168"/>
          </a:xfrm>
          <a:prstGeom prst="line">
            <a:avLst/>
          </a:prstGeom>
          <a:ln w="20320">
            <a:solidFill>
              <a:srgbClr val="5B8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822960"/>
            <a:ext cx="6583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C8585"/>
                </a:solidFill>
                <a:latin typeface="Aptos"/>
              </a:defRPr>
            </a:pPr>
            <a:r>
              <a:t>RESEARCH PRESENTATION  |  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417320"/>
            <a:ext cx="6675120" cy="1481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3500" b="1">
                <a:solidFill>
                  <a:srgbClr val="183452"/>
                </a:solidFill>
                <a:latin typeface="Aptos"/>
              </a:defRPr>
            </a:pPr>
            <a:r>
              <a:t>Finding ambiguity</a:t>
            </a:r>
          </a:p>
          <a:p>
            <a:pPr algn="l">
              <a:spcAft>
                <a:spcPts val="500"/>
              </a:spcAft>
              <a:defRPr sz="3500" b="1">
                <a:solidFill>
                  <a:srgbClr val="183452"/>
                </a:solidFill>
                <a:latin typeface="Aptos"/>
              </a:defRPr>
            </a:pPr>
            <a:r>
              <a:t>before publication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200400"/>
            <a:ext cx="64008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6313B"/>
                </a:solidFill>
                <a:latin typeface="Aptos"/>
              </a:defRPr>
            </a:pPr>
            <a:r>
              <a:t>Leakage-controlled, model-assisted prioritization of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26313B"/>
                </a:solidFill>
                <a:latin typeface="Aptos"/>
              </a:defRPr>
            </a:pPr>
            <a:r>
              <a:t>IETF Internet-Draft clauses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6537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83452"/>
                </a:solidFill>
                <a:latin typeface="Aptos"/>
              </a:defRPr>
            </a:pPr>
            <a:r>
              <a:t>Mostafa Elofy  ·  Mohamed Ghanem  ·  Mohamed Abdelkhalek  ·  Osama Elkhuribi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6126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974"/>
                </a:solidFill>
                <a:latin typeface="Aptos"/>
              </a:defRPr>
            </a:pPr>
            <a:r>
              <a:t>School of Computing, Queen's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90488"/>
            <a:ext cx="6126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A6413E"/>
                </a:solidFill>
                <a:latin typeface="Aptos"/>
              </a:defRPr>
            </a:pPr>
            <a:r>
              <a:t>Research-stage evidence — not a validated production detector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01  |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One sentence can lead to different implementations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26313B"/>
                </a:solidFill>
                <a:latin typeface="Aptos"/>
              </a:defRPr>
            </a:pPr>
            <a:r>
              <a:t>Normative keywords are precise; the surrounding prose can still leave room for interpretation.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965960"/>
            <a:ext cx="5486400" cy="960120"/>
          </a:xfrm>
          <a:prstGeom prst="roundRect">
            <a:avLst/>
          </a:prstGeom>
          <a:solidFill>
            <a:srgbClr val="E7F0F7"/>
          </a:solidFill>
          <a:ln w="21590"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39696"/>
            <a:ext cx="502920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83452"/>
                </a:solidFill>
                <a:latin typeface="Aptos"/>
              </a:defRPr>
            </a:pPr>
            <a:r>
              <a:t>“A receiver SHOULD retry when appropriate.”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926080"/>
            <a:ext cx="0" cy="320040"/>
          </a:xfrm>
          <a:prstGeom prst="line">
            <a:avLst/>
          </a:prstGeom>
          <a:ln w="1905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14600" y="3246120"/>
            <a:ext cx="7132320" cy="0"/>
          </a:xfrm>
          <a:prstGeom prst="line">
            <a:avLst/>
          </a:prstGeom>
          <a:ln w="1905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3246120"/>
            <a:ext cx="0" cy="301752"/>
          </a:xfrm>
          <a:prstGeom prst="line">
            <a:avLst/>
          </a:prstGeom>
          <a:ln w="1651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69848" y="3547872"/>
            <a:ext cx="2889504" cy="1335024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30752"/>
            <a:ext cx="25237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Implementation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160520"/>
            <a:ext cx="250545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Retry immediately;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stop after one failure.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246120"/>
            <a:ext cx="0" cy="301752"/>
          </a:xfrm>
          <a:prstGeom prst="line">
            <a:avLst/>
          </a:prstGeom>
          <a:ln w="1651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36008" y="3547872"/>
            <a:ext cx="2889504" cy="1335024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3730752"/>
            <a:ext cx="25237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Implementation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4160520"/>
            <a:ext cx="250545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Retry with backoff;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continue until a limit.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46920" y="3246120"/>
            <a:ext cx="0" cy="301752"/>
          </a:xfrm>
          <a:prstGeom prst="line">
            <a:avLst/>
          </a:prstGeom>
          <a:ln w="1651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02168" y="3547872"/>
            <a:ext cx="2889504" cy="1335024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A64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3730752"/>
            <a:ext cx="25237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Implementation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160520"/>
            <a:ext cx="250545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Retry only for selected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error classes.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10149840" cy="5212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The goal is not to declare a clause defective. It is to help a human reviewer decide where to look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Illustrative example; not a quoted clause from the corpus.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02  |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research question is about prioritization—not verdicts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10424160" cy="130759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969264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183452"/>
                </a:solidFill>
                <a:latin typeface="Aptos"/>
              </a:defRPr>
            </a:pPr>
            <a:r>
              <a:t>Can we rank draft clauses likely to be operationally ambiguous using only information available at that draft stage?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3246120" cy="15727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46120"/>
            <a:ext cx="82296" cy="1572768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429000"/>
            <a:ext cx="28529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858768"/>
            <a:ext cx="283463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A clause as it appeared in an Internet-Draft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46120"/>
            <a:ext cx="3246120" cy="1572768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246120"/>
            <a:ext cx="82296" cy="1572768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3429000"/>
            <a:ext cx="28529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858768"/>
            <a:ext cx="283463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A ranked queue for human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46120"/>
            <a:ext cx="3246120" cy="1572768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82296" cy="1572768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3429000"/>
            <a:ext cx="28529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858768"/>
            <a:ext cx="283463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No automatic judgment of correctness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9966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26313B"/>
                </a:solidFill>
                <a:latin typeface="Aptos"/>
              </a:defRPr>
            </a:pPr>
            <a:r>
              <a:t>Success means useful review allocation under a defensible evaluation—not “AI understands standards.”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Project framing: paper/main.tex, Introduction and Conclusion.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03  |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Three traps can make an ambiguity detector look better than it 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PROBLEM FRAMING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429000" cy="2999232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82296" cy="2999232"/>
          </a:xfrm>
          <a:prstGeom prst="rect">
            <a:avLst/>
          </a:prstGeom>
          <a:solidFill>
            <a:srgbClr val="A6413E"/>
          </a:solidFill>
          <a:ln>
            <a:solidFill>
              <a:srgbClr val="A64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60020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1  Future-information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029968"/>
            <a:ext cx="3017520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Later revisions, final RFCs, and errata can explain what became problematic—but they were not available at draft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2999232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82296" cy="2999232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0020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2  Repeated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29968"/>
            <a:ext cx="3017520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Related clauses recur across a document's revision lineage. Random clause splits can place near-duplicates in train and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429000" cy="2999232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82296" cy="2999232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600200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3  Rare, uncertain positives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029968"/>
            <a:ext cx="3017520" cy="2249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The latest DeBERTa cohort is 6.4% positive. Operational labels are AI-assisted and not expert-adjudicated gold.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83452"/>
                </a:solidFill>
                <a:latin typeface="Aptos"/>
              </a:defRPr>
            </a:pPr>
            <a:r>
              <a:t>So the central engineering problem is as much about information boundaries and evaluation design as model choice.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Introduction; latest DeBERTa cohort.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04  |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project connects a corpus to several distinct studies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3246120" cy="128016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0744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253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1984248"/>
            <a:ext cx="3026663" cy="44805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Internet-Draft revisions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46120" cy="128016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3026663" cy="44805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RFCs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246120" cy="128016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380744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1984248"/>
            <a:ext cx="3026663" cy="44805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verified technical errata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1268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026664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D6596"/>
                </a:solidFill>
                <a:latin typeface="Aptos"/>
              </a:defRPr>
            </a:pPr>
            <a:r>
              <a:t>CLASSICAL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90088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2,425 clauses · 11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1752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160 positives · prevalence 6.60%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03320"/>
            <a:ext cx="10012680" cy="658368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849624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DA8B35"/>
                </a:solidFill>
                <a:latin typeface="Aptos"/>
              </a:defRPr>
            </a:pPr>
            <a:r>
              <a:t>QWEN /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13048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2,142 clauses · 9 families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84048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126 positives · prevalence 5.88%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526280"/>
            <a:ext cx="1001268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72584"/>
            <a:ext cx="2240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C8585"/>
                </a:solidFill>
                <a:latin typeface="Aptos"/>
              </a:defRPr>
            </a:pPr>
            <a:r>
              <a:t>LATEST DEBERTA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36008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2,143 clauses · 9 families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138 positives · prevalence 6.44%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14416"/>
            <a:ext cx="10012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Different label snapshots and protocols: scores across these rows are not a common leaderboard.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paper/main.tex; study-specific cohorts and label snapshots.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05  |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pipeline makes the information boundary explicit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581912"/>
            <a:ext cx="384048" cy="384048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Public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Drafts · RFCs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errata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216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9464" y="1581912"/>
            <a:ext cx="384048" cy="384048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Documents →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clauses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42816" y="1581912"/>
            <a:ext cx="384048" cy="384048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2816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Track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Revision alignment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&amp; lineage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2976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16168" y="1581912"/>
            <a:ext cx="384048" cy="384048"/>
          </a:xfrm>
          <a:prstGeom prst="ellipse">
            <a:avLst/>
          </a:prstGeom>
          <a:solidFill>
            <a:srgbClr val="A64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16168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AI-assisted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operational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96328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20" y="1581912"/>
            <a:ext cx="384048" cy="384048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Rules · ML ·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LLM · 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62872" y="1581912"/>
            <a:ext cx="384048" cy="384048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2872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Family-grouped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out-of-fold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4976" y="2578608"/>
            <a:ext cx="365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D659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43032" y="1938528"/>
            <a:ext cx="1170432" cy="192024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36224" y="1581912"/>
            <a:ext cx="384048" cy="384048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36224" y="1586484"/>
            <a:ext cx="38404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16184" y="2157984"/>
            <a:ext cx="1024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83452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16184" y="2743200"/>
            <a:ext cx="1024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Ranked human</a:t>
            </a:r>
          </a:p>
          <a:p>
            <a:pPr algn="ctr">
              <a:spcAft>
                <a:spcPts val="500"/>
              </a:spcAft>
              <a:defRPr sz="1250" b="0">
                <a:solidFill>
                  <a:srgbClr val="26313B"/>
                </a:solidFill>
                <a:latin typeface="Aptos"/>
              </a:defRPr>
            </a:pPr>
            <a:r>
              <a:t>review queue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315968"/>
            <a:ext cx="10561320" cy="749808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FAE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" y="4471416"/>
            <a:ext cx="10104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Prediction-time boundary: no later draft, final RFC, erratum, label, vote, rationale, or split metadata as model input.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376672"/>
            <a:ext cx="9966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The latest all-family classical rerun includes TCP and DNS, so the proposal's project-level holdouts are no longer untouched.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paper/figures/project_pipeline.png and paper/main.tex.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06  |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label is an operational reference—not a definition of truth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3154680" cy="12984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72184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A6413E"/>
                </a:solidFill>
                <a:latin typeface="Aptos"/>
              </a:defRPr>
            </a:pPr>
            <a:r>
              <a:t>95.6%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075688"/>
            <a:ext cx="2935224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of positive labels were 2-to-1 votes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325880"/>
            <a:ext cx="3154680" cy="12984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472184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DA8B35"/>
                </a:solidFill>
                <a:latin typeface="Aptos"/>
              </a:defRPr>
            </a:pPr>
            <a:r>
              <a:t>20 / 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075688"/>
            <a:ext cx="2935224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positive labels were unanimous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1325880"/>
            <a:ext cx="3154680" cy="12984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472184"/>
            <a:ext cx="2971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2D6596"/>
                </a:solidFill>
                <a:latin typeface="Aptos"/>
              </a:defRPr>
            </a:pPr>
            <a:r>
              <a:t>0.017-0.113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75688"/>
            <a:ext cx="2935224" cy="466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pairwise Cohen's kappa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63240"/>
            <a:ext cx="4983480" cy="1700784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33756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What the labels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22191"/>
            <a:ext cx="4343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A repeatable, provenance-recorded operational reference for development experiments.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063240"/>
            <a:ext cx="4983480" cy="1700784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What they do not establish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22191"/>
            <a:ext cx="4343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Independent expert truth, human reliability, or population-level ambiguity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85232"/>
            <a:ext cx="9966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A6413E"/>
                </a:solidFill>
                <a:latin typeface="Aptos"/>
              </a:defRPr>
            </a:pPr>
            <a:r>
              <a:t>Scores measure agreement with a noisy, model-dependent reference; they do not identify which annotator is correct.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Annotation Disagreement Audit and Construct Validity.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07  |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project tests multiple model families—not one magic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983480" cy="1600200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82296" cy="1600200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50876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Transparent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193852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Hand-set lexical and structural cues; an interpretable low-cost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4983480" cy="160020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82296" cy="1600200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50876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Classical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193852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Logistic regression / SVM; engineered clause features + TF–IDF.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46120"/>
            <a:ext cx="4983480" cy="160020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82296" cy="1600200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42900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85876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DeBERTa-v3-base; target-only fine-tuning and rank-based combinations.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4983480" cy="160020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46120"/>
            <a:ext cx="82296" cy="1600200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3429000"/>
            <a:ext cx="45902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Local LLM &amp;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3858768"/>
            <a:ext cx="45720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Qwen prompting plus lexical / MiniLM semantic signals in separate studies.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424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26313B"/>
                </a:solidFill>
                <a:latin typeface="Aptos"/>
              </a:defRPr>
            </a:pPr>
            <a:r>
              <a:t>Revision-only signals and frozen embeddings were also examined; the tested versions were not consistently stronger.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paper/main.tex; results/final_summary/conclusions.md.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08  |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Evaluation is grouped to test transfer across protocol families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4754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C8585"/>
                </a:solidFill>
                <a:latin typeface="Aptos"/>
              </a:defRPr>
            </a:pPr>
            <a:r>
              <a:t>WHAT THE DESIGN PROTECTS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92224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6795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207008" y="1755648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Keep related clauses from the same family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78608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3179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207008" y="2542032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Fit preprocessing and feature selection inside training folds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64991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9563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207008" y="3328415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Use average precision (AP) under class imbalance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151376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55948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207008" y="4114800"/>
            <a:ext cx="44622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Report fixed review-budget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71600"/>
            <a:ext cx="5074920" cy="3429000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691640"/>
            <a:ext cx="4434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83452"/>
                </a:solidFill>
                <a:latin typeface="Aptos"/>
              </a:defRPr>
            </a:pPr>
            <a:r>
              <a:t>Latest DeBERTa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350008"/>
            <a:ext cx="1920240" cy="141732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2496312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1C8585"/>
                </a:solidFill>
                <a:latin typeface="Aptos"/>
              </a:defRPr>
            </a:pPr>
            <a:r>
              <a:t>5-fold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99815"/>
            <a:ext cx="1700784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transformer family 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2350008"/>
            <a:ext cx="1920240" cy="141732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2496312"/>
            <a:ext cx="17373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DA8B35"/>
                </a:solidFill>
                <a:latin typeface="Aptos"/>
              </a:defRPr>
            </a:pPr>
            <a:r>
              <a:t>3-fold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099815"/>
            <a:ext cx="1700784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classical family 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142232"/>
            <a:ext cx="4526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A6413E"/>
                </a:solidFill>
                <a:latin typeface="Aptos"/>
              </a:defRPr>
            </a:pPr>
            <a:r>
              <a:t>Protocols differ; the newest transformer also uses one seed.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440680"/>
            <a:ext cx="100584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83452"/>
                </a:solidFill>
                <a:latin typeface="Aptos"/>
              </a:defRPr>
            </a:pPr>
            <a:r>
              <a:t>No single score answers whether the system transfers to a new protocol family.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Evaluation Design and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09  |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Classical text features give the strongest result in their own cohort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CLASSICAL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5577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5B6974"/>
                </a:solidFill>
                <a:latin typeface="Aptos"/>
              </a:defRPr>
            </a:pPr>
            <a:r>
              <a:t>2,425 clauses  ·  160 positives  ·  11 families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76063" y="1773936"/>
            <a:ext cx="0" cy="279806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12639" y="1563624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6313B"/>
                </a:solidFill>
                <a:latin typeface="Aptos"/>
              </a:defRPr>
            </a:pPr>
            <a:r>
              <a:t>Linear SVM: engineered + TF–IDF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83664"/>
            <a:ext cx="3482035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99171" y="1856231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0.3584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14016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Random forest: engineered + TF–IDF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450592"/>
            <a:ext cx="3267322" cy="310896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4458" y="242316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0.3363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80944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Logistic: engineered + TF–IDF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017520"/>
            <a:ext cx="3172110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9246" y="2990087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0.3265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47872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Fixed engineered heuristic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584448"/>
            <a:ext cx="848163" cy="310896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5299" y="3557015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0.0873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34564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Positive prevalence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151376"/>
            <a:ext cx="641223" cy="310896"/>
          </a:xfrm>
          <a:prstGeom prst="rect">
            <a:avLst/>
          </a:prstGeom>
          <a:solidFill>
            <a:srgbClr val="5B6974"/>
          </a:solidFill>
          <a:ln>
            <a:solidFill>
              <a:srgbClr val="5B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8358" y="4123944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0.0660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331720" cy="260604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103120"/>
            <a:ext cx="19202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C8585"/>
                </a:solidFill>
                <a:latin typeface="Aptos"/>
              </a:defRPr>
            </a:pPr>
            <a:r>
              <a:t>Key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96896"/>
            <a:ext cx="19659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Lexical plus engineered features lead this matched cohort; thresholds trade precision for recall.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93792"/>
            <a:ext cx="10149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A6413E"/>
                </a:solidFill>
                <a:latin typeface="Aptos"/>
              </a:defRPr>
            </a:pPr>
            <a:r>
              <a:t>Logistic recall is 0.706 at precision 0.190; SVM recall is 0.313 at precision 0.455. TCP and DNS are included, so this is not untouched holdout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Table classical; matched 3-fold family-grouped OOF.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10  |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Latest DeBERTa comparison: promising ranking, wide uncertainty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10332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5B6974"/>
                </a:solidFill>
                <a:latin typeface="Aptos"/>
              </a:defRPr>
            </a:pPr>
            <a:r>
              <a:t>2,143 clauses  ·  138 positives  ·  9 families  ·  5-fold family-isolated OOF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97459" y="1975104"/>
            <a:ext cx="0" cy="252374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434035" y="176479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4825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26313B"/>
                </a:solidFill>
                <a:latin typeface="Aptos"/>
              </a:defRPr>
            </a:pPr>
            <a:r>
              <a:t>Equal-weight ECDF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084832"/>
            <a:ext cx="2956511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3607" y="20574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0.6736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8833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Focal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724912"/>
            <a:ext cx="2555784" cy="310896"/>
          </a:xfrm>
          <a:prstGeom prst="rect">
            <a:avLst/>
          </a:prstGeom>
          <a:solidFill>
            <a:srgbClr val="DA8B35"/>
          </a:solidFill>
          <a:ln>
            <a:solidFill>
              <a:srgbClr val="DA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2880" y="269748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0.5823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2841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Partial fine-tuning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364992"/>
            <a:ext cx="2528572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5668" y="333756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0.5761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68496"/>
            <a:ext cx="29535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Prevalence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005072"/>
            <a:ext cx="282659" cy="310896"/>
          </a:xfrm>
          <a:prstGeom prst="rect">
            <a:avLst/>
          </a:prstGeom>
          <a:solidFill>
            <a:srgbClr val="5B6974"/>
          </a:solidFill>
          <a:ln>
            <a:solidFill>
              <a:srgbClr val="5B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9755" y="3977639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0.0644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828800"/>
            <a:ext cx="2926080" cy="246888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E7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084831"/>
            <a:ext cx="2331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1C8585"/>
                </a:solidFill>
                <a:latin typeface="Aptos"/>
              </a:defRPr>
            </a:pPr>
            <a:r>
              <a:t>46 / 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688336"/>
            <a:ext cx="2331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26313B"/>
                </a:solidFill>
                <a:latin typeface="Aptos"/>
              </a:defRPr>
            </a:pPr>
            <a:r>
              <a:t>operational positives among the top 50 ranked clauses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3749039"/>
            <a:ext cx="24871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B6974"/>
                </a:solidFill>
                <a:latin typeface="Aptos"/>
              </a:defRPr>
            </a:pPr>
            <a:r>
              <a:t>Ensemble AP family interval: 0.592–0.764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101498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A6413E"/>
                </a:solidFill>
                <a:latin typeface="Aptos"/>
              </a:defRPr>
            </a:pPr>
            <a:r>
              <a:t>The ECDF ensemble is a ranking score, not a calibrated probability. Intervals overlap across nine families; the 100 labels were error-selected, and this repair reuses parent predictions—not an independent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updated reviewed-label DeBERTa outputs; paper/main.tex. OOF development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11  |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Revision history did not improve ranking AP in the matched rerun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RESULTS · REVISION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105156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B6974"/>
                </a:solidFill>
                <a:latin typeface="Aptos"/>
              </a:defRPr>
            </a:pPr>
            <a:r>
              <a:t>Same 2,425 rows, grouped folds, engineered features, TF–IDF, and classifier settings; only 12 past-only revision features change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52645" y="1746504"/>
            <a:ext cx="0" cy="2980944"/>
          </a:xfrm>
          <a:prstGeom prst="line">
            <a:avLst/>
          </a:prstGeom>
          <a:ln w="15240">
            <a:solidFill>
              <a:srgbClr val="A6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9221" y="153619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6413E"/>
                </a:solidFill>
                <a:latin typeface="Aptos"/>
              </a:defRPr>
            </a:pPr>
            <a:r>
              <a:t>base 0.066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1965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Logistic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56231"/>
            <a:ext cx="3396024" cy="310896"/>
          </a:xfrm>
          <a:prstGeom prst="rect">
            <a:avLst/>
          </a:prstGeom>
          <a:solidFill>
            <a:srgbClr val="2D6596"/>
          </a:solidFill>
          <a:ln>
            <a:solidFill>
              <a:srgbClr val="2D6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4480" y="18288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0.3265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Logistic + revision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359152"/>
            <a:ext cx="3312814" cy="310896"/>
          </a:xfrm>
          <a:prstGeom prst="rect">
            <a:avLst/>
          </a:prstGeom>
          <a:solidFill>
            <a:srgbClr val="7EA9CF"/>
          </a:solidFill>
          <a:ln>
            <a:solidFill>
              <a:srgbClr val="7EA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1270" y="233172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0.3185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SVM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862072"/>
            <a:ext cx="3727825" cy="310896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6281" y="2834639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0.3584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2841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SVM + revision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364992"/>
            <a:ext cx="3715344" cy="310896"/>
          </a:xfrm>
          <a:prstGeom prst="rect">
            <a:avLst/>
          </a:prstGeom>
          <a:solidFill>
            <a:srgbClr val="76B9B3"/>
          </a:solidFill>
          <a:ln>
            <a:solidFill>
              <a:srgbClr val="76B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3800" y="333756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0.3572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3133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Random forest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867912"/>
            <a:ext cx="3497957" cy="310896"/>
          </a:xfrm>
          <a:prstGeom prst="rect">
            <a:avLst/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6413" y="384048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0.3363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34256"/>
            <a:ext cx="2633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Random forest + revision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370832"/>
            <a:ext cx="3482355" cy="310896"/>
          </a:xfrm>
          <a:prstGeom prst="rect">
            <a:avLst/>
          </a:prstGeom>
          <a:solidFill>
            <a:srgbClr val="667D94"/>
          </a:solidFill>
          <a:ln>
            <a:solidFill>
              <a:srgbClr val="667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0811" y="4343400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6313B"/>
                </a:solidFill>
                <a:latin typeface="Aptos"/>
              </a:defRPr>
            </a:pPr>
            <a:r>
              <a:t>0.3348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700784"/>
            <a:ext cx="2697480" cy="3090672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1947672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83452"/>
                </a:solidFill>
                <a:latin typeface="Aptos"/>
              </a:defRPr>
            </a:pPr>
            <a:r>
              <a:t>AP deltas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514600"/>
            <a:ext cx="2212848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A6413E"/>
                </a:solidFill>
                <a:latin typeface="Aptos"/>
              </a:defRPr>
            </a:pPr>
            <a:r>
              <a:t>Logistic  -0.0081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A6413E"/>
                </a:solidFill>
                <a:latin typeface="Aptos"/>
              </a:defRPr>
            </a:pPr>
            <a:r>
              <a:t>SVM       -0.0012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A6413E"/>
                </a:solidFill>
                <a:latin typeface="Aptos"/>
              </a:defRPr>
            </a:pPr>
            <a:r>
              <a:t>Forest    -0.0015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749039"/>
            <a:ext cx="2340864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F2: unchanged for logistic; small gains for SVM and forest.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30368"/>
            <a:ext cx="10287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RQ2 is only partly answered: cross-reference features were not isolated and no calibration metrics were recorded.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Revision-Feature Implementation and Feature Comparisons.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12  |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report answers some questions and leaves two open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188720"/>
            <a:ext cx="1042416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344168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C8585"/>
                </a:solidFill>
                <a:latin typeface="Aptos"/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088" y="1325880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Development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25880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Supported with qualifications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20824"/>
            <a:ext cx="104241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DA8B35"/>
                </a:solidFill>
                <a:latin typeface="Aptos"/>
              </a:defRPr>
            </a:pPr>
            <a: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157984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Revision / cross-reference /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57984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Partly answered; AP hypothesis not 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52928"/>
            <a:ext cx="1042416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08376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D6596"/>
                </a:solidFill>
                <a:latin typeface="Aptos"/>
              </a:defRPr>
            </a:pPr>
            <a: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990088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Model-family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990088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Effectiveness/workload only; separate protocols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85032"/>
            <a:ext cx="1042416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840480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RQ4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822192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Conditional LLM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22192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Not tested; calls and cost were not reduced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517136"/>
            <a:ext cx="10424160" cy="6583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672584"/>
            <a:ext cx="6583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RQ5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654296"/>
            <a:ext cx="3657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83452"/>
                </a:solidFill>
                <a:latin typeface="Aptos"/>
              </a:defRPr>
            </a:pPr>
            <a:r>
              <a:t>Explanation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654296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50" b="0">
                <a:solidFill>
                  <a:srgbClr val="26313B"/>
                </a:solidFill>
                <a:latin typeface="Aptos"/>
              </a:defRPr>
            </a:pPr>
            <a:r>
              <a:t>Not tested with expert faithfulness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32120"/>
            <a:ext cx="1019556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5B6974"/>
                </a:solidFill>
                <a:latin typeface="Aptos"/>
              </a:defRPr>
            </a:pPr>
            <a:r>
              <a:t>Qwen 8-shot AP 0.1960; fitted Qwen/TF–IDF/MiniLM V4 AP 0.3252 on their own 2,142-row cohort.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Answers to the Proposal Research Questions.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13  |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main limitations are scientific—not just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VALIDITY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287000" cy="630936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389888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Construct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1371600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Low-agreement AI-assisted labels; no adjudicated expert gold.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48256"/>
            <a:ext cx="10287000" cy="6309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203704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185416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Enriched candidates; scores do not represent every IETF clause.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62072"/>
            <a:ext cx="10287000" cy="630936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017520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999232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Nine families in latest transformer study; one training seed.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75887"/>
            <a:ext cx="10287000" cy="63093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831335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813048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Some comparisons are adaptive development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9704"/>
            <a:ext cx="10287000" cy="630936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645152"/>
            <a:ext cx="18288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A6413E"/>
                </a:solidFill>
                <a:latin typeface="Aptos"/>
              </a:defRPr>
            </a:pPr>
            <a:r>
              <a:t>External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4626864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13B"/>
                </a:solidFill>
                <a:latin typeface="Aptos"/>
              </a:defRPr>
            </a:pPr>
            <a:r>
              <a:t>TCP and DNS entered the latest classical rerun; no untouched project holdout remains.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9552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A6413E"/>
                </a:solidFill>
                <a:latin typeface="Aptos"/>
              </a:defRPr>
            </a:pPr>
            <a:r>
              <a:t>No claim of validated ambiguity accuracy or deployment readiness is supported yet.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paper/main.tex, Threats to Validity.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14  |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GUI example: RFC 9000 review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303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83452"/>
                </a:solidFill>
                <a:latin typeface="Aptos"/>
              </a:defRPr>
            </a:pPr>
            <a:r>
              <a:t>Local scan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9072"/>
            <a:ext cx="1572768" cy="10698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142646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1C8585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14264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potentially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ambiguous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719072"/>
            <a:ext cx="1572768" cy="10698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142646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2D6596"/>
                </a:solidFill>
                <a:latin typeface="Aptos"/>
              </a:defRPr>
            </a:pPr>
            <a:r>
              <a:t>516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86000"/>
            <a:ext cx="14264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normative clauses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scored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719072"/>
            <a:ext cx="1572768" cy="1069848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828800"/>
            <a:ext cx="1426464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DA8B35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286000"/>
            <a:ext cx="142646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sections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26313B"/>
                </a:solidFill>
                <a:latin typeface="Aptos"/>
              </a:defRPr>
            </a:pPr>
            <a:r>
              <a:t>represented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5084064" cy="1417320"/>
          </a:xfrm>
          <a:prstGeom prst="roundRect">
            <a:avLst/>
          </a:prstGeom>
          <a:solidFill>
            <a:srgbClr val="E7F5F3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82296" cy="1417320"/>
          </a:xfrm>
          <a:prstGeom prst="rect">
            <a:avLst/>
          </a:prstGeom>
          <a:solidFill>
            <a:srgbClr val="1C8585"/>
          </a:solidFill>
          <a:ln>
            <a:solidFill>
              <a:srgbClr val="1C8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291840"/>
            <a:ext cx="46908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83452"/>
                </a:solidFill>
                <a:latin typeface="Aptos"/>
              </a:defRPr>
            </a:pPr>
            <a:r>
              <a:t>Example ranked suggestion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3721608"/>
            <a:ext cx="4672583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Line 4727 · Section 14.2.1 · score 0.5433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“The endpoint SHOULD ignore all ICMP messages that fail validation.”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5084064" cy="960120"/>
          </a:xfrm>
          <a:prstGeom prst="roundRect">
            <a:avLst/>
          </a:prstGeom>
          <a:solidFill>
            <a:srgbClr val="FBF2E3"/>
          </a:solidFill>
          <a:ln w="13970">
            <a:solidFill>
              <a:srgbClr val="FBF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65192"/>
            <a:ext cx="468172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13B"/>
                </a:solidFill>
                <a:latin typeface="Aptos"/>
              </a:defRPr>
            </a:pPr>
            <a:r>
              <a:t>Scores rank clauses for review; they are not calibrated probabilities or ambiguity verdicts. This capture also had a scikit-learn artifact/runtime version warning.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152144"/>
            <a:ext cx="4892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C8585"/>
                </a:solidFill>
                <a:latin typeface="Aptos"/>
              </a:defRPr>
            </a:pPr>
            <a:r>
              <a:t>Overview · RFC 9000</a:t>
            </a:r>
          </a:p>
        </p:txBody>
      </p:sp>
      <p:pic>
        <p:nvPicPr>
          <p:cNvPr id="22" name="Picture 21" descr="gui_rfc900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89888"/>
            <a:ext cx="4800600" cy="22264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20840" y="3730752"/>
            <a:ext cx="4892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C8585"/>
                </a:solidFill>
                <a:latin typeface="Aptos"/>
              </a:defRPr>
            </a:pPr>
            <a:r>
              <a:t>Filtered suggestion · one of 112 flagged clauses</a:t>
            </a:r>
          </a:p>
        </p:txBody>
      </p:sp>
      <p:pic>
        <p:nvPicPr>
          <p:cNvPr id="24" name="Picture 23" descr="gui_rfc9000_filtere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968496"/>
            <a:ext cx="4800600" cy="222647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GUI screenshots: local scan of corpus/raw/rfcs/RFC9000.txt; model scores are screening ranks.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15  |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What evidence would earn a stronger claim?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773936"/>
            <a:ext cx="502920" cy="502920"/>
          </a:xfrm>
          <a:prstGeom prst="ellipse">
            <a:avLst/>
          </a:prstGeom>
          <a:solidFill>
            <a:srgbClr val="2D6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Build an expert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Stratified sample; independent double annotation and adjudication.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9312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0" y="1773936"/>
            <a:ext cx="502920" cy="502920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Stabilize estimates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Repeat selected transformers across seeds; compare common labels and folds.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4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6832" y="1773936"/>
            <a:ext cx="502920" cy="502920"/>
          </a:xfrm>
          <a:prstGeom prst="ellipse">
            <a:avLst/>
          </a:prstGeom>
          <a:solidFill>
            <a:srgbClr val="DA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Finish open RQs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Implement conditional LLM routing; measure calls, latency, cost, calibration, and explanations.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1536192"/>
            <a:ext cx="2514600" cy="317296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73184" y="1773936"/>
            <a:ext cx="502920" cy="502920"/>
          </a:xfrm>
          <a:prstGeom prst="ellipse">
            <a:avLst/>
          </a:prstGeom>
          <a:solidFill>
            <a:srgbClr val="A64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1778507"/>
            <a:ext cx="5029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514600"/>
            <a:ext cx="2103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452"/>
                </a:solidFill>
                <a:latin typeface="Aptos"/>
              </a:defRPr>
            </a:pPr>
            <a:r>
              <a:t>Create a new holdout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3364992"/>
            <a:ext cx="2084831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Pre-register unseen families or later time-sliced revisions for one final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57800"/>
            <a:ext cx="10012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A6413E"/>
                </a:solidFill>
                <a:latin typeface="Aptos"/>
              </a:defRPr>
            </a:pPr>
            <a:r>
              <a:t>The next evaluation must be genuinely untouched and used once after the model and analysis plan are frozen.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Source: paper/README.md, author action items; results/final_summary/conclusions.md.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16  |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The contribution is a careful path from draft text to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TAKE-HOME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389888"/>
            <a:ext cx="10287000" cy="1097280"/>
          </a:xfrm>
          <a:prstGeom prst="roundRect">
            <a:avLst/>
          </a:prstGeom>
          <a:solidFill>
            <a:srgbClr val="E7F0F7"/>
          </a:solidFill>
          <a:ln w="13970"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618488"/>
            <a:ext cx="96012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83452"/>
                </a:solidFill>
                <a:latin typeface="Aptos"/>
              </a:defRPr>
            </a:pPr>
            <a:r>
              <a:t>A promising research-stage prioritization aid—not an autonomous ambiguity judge.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2980944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985516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709928" y="2944368"/>
            <a:ext cx="9034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313B"/>
                </a:solidFill>
                <a:latin typeface="Aptos"/>
              </a:defRPr>
            </a:pPr>
            <a:r>
              <a:t>Revision-aware corpus and explicit temporal information boundaries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3739896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744468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709928" y="3703320"/>
            <a:ext cx="9034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313B"/>
                </a:solidFill>
                <a:latin typeface="Aptos"/>
              </a:defRPr>
            </a:pPr>
            <a:r>
              <a:t>Family-aware evaluation across classical ML, transformers, and local LLM hybrids</a:t>
            </a:r>
          </a:p>
        </p:txBody>
      </p:sp>
      <p:sp>
        <p:nvSpPr>
          <p:cNvPr id="13" name="Oval 12"/>
          <p:cNvSpPr/>
          <p:nvPr/>
        </p:nvSpPr>
        <p:spPr>
          <a:xfrm>
            <a:off x="1417320" y="4498848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503420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709928" y="4462272"/>
            <a:ext cx="903427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6313B"/>
                </a:solidFill>
                <a:latin typeface="Aptos"/>
              </a:defRPr>
            </a:pPr>
            <a:r>
              <a:t>Honest reporting of uncertainty, label limits, and the consumed project holdouts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9966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C8585"/>
                </a:solidFill>
                <a:latin typeface="Aptos"/>
              </a:defRPr>
            </a:pPr>
            <a:r>
              <a:t>The next milestone is independent evidence—not a more complicated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Project status and claim boundary: README.md; paper/main.tex.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17  |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83452"/>
                </a:solidFill>
                <a:latin typeface="Aptos"/>
              </a:defRPr>
            </a:pPr>
            <a:r>
              <a:t>Discussion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3504" y="877824"/>
            <a:ext cx="10972800" cy="0"/>
          </a:xfrm>
          <a:prstGeom prst="line">
            <a:avLst/>
          </a:prstGeom>
          <a:ln w="20320">
            <a:solidFill>
              <a:srgbClr val="2D6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92640" y="91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C8585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5760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183452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512064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6313B"/>
                </a:solidFill>
                <a:latin typeface="Aptos"/>
              </a:defRPr>
            </a:pPr>
            <a:r>
              <a:t>Where should the boundary sit between automated triage and human judgment?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07592"/>
            <a:ext cx="4800600" cy="3584448"/>
          </a:xfrm>
          <a:prstGeom prst="roundRect">
            <a:avLst/>
          </a:prstGeom>
          <a:solidFill>
            <a:srgbClr val="F2F7FA"/>
          </a:solidFill>
          <a:ln w="13970"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206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C8585"/>
                </a:solidFill>
                <a:latin typeface="Aptos"/>
              </a:defRPr>
            </a:pPr>
            <a:r>
              <a:t>Selected context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295144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299716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059168" y="2258568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RFC 2119 / RFC 8174 — normative keywords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825496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30068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059168" y="2788920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Davis &amp; Goadrich (2006) — PR curves and ROC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3355848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360420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059168" y="3319272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Saito &amp; Rehmsmeier (2015) — PR under imbalance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886200"/>
            <a:ext cx="164592" cy="164592"/>
          </a:xfrm>
          <a:prstGeom prst="ellipse">
            <a:avLst/>
          </a:prstGeom>
          <a:solidFill>
            <a:srgbClr val="1C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890772"/>
            <a:ext cx="16459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6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059168" y="3849624"/>
            <a:ext cx="3822191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13B"/>
                </a:solidFill>
                <a:latin typeface="Aptos"/>
              </a:defRPr>
            </a:pPr>
            <a:r>
              <a:t>Pawagi et al. (2025) — RFCScope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87568"/>
            <a:ext cx="10241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5B6974"/>
                </a:solidFill>
                <a:latin typeface="Aptos"/>
              </a:defRPr>
            </a:pPr>
            <a:r>
              <a:t>Thank you  ·  School of Computing, Queen's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6528816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  <a:defRPr sz="850" b="0">
                <a:solidFill>
                  <a:srgbClr val="5B6974"/>
                </a:solidFill>
                <a:latin typeface="Aptos"/>
              </a:defRPr>
            </a:pPr>
            <a:r>
              <a:t>Full bibliography and methods: paper/main.tex and paper/references.bib.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492240"/>
            <a:ext cx="777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B6974"/>
                </a:solidFill>
                <a:latin typeface="Aptos"/>
              </a:defRPr>
            </a:pPr>
            <a:r>
              <a:t>18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Leakage-Controlled Pre-Publication Ambiguity Detection</dc:title>
  <dc:subject>25-minute academic project presentation</dc:subject>
  <dc:creator>Queen's University School of Computing</dc:creator>
  <cp:keywords>Internet-Drafts, ambiguity detection, ML, leakage control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